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6" d="100"/>
          <a:sy n="56" d="100"/>
        </p:scale>
        <p:origin x="1296"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4C34F-9BF4-E87A-A264-D54A3B33EF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AA4D7493-69CC-2E45-CF45-883D8B659C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ED78A81-D120-A37B-CF28-EA3C6E1C6B2A}"/>
              </a:ext>
            </a:extLst>
          </p:cNvPr>
          <p:cNvSpPr>
            <a:spLocks noGrp="1"/>
          </p:cNvSpPr>
          <p:nvPr>
            <p:ph type="dt" sz="half" idx="10"/>
          </p:nvPr>
        </p:nvSpPr>
        <p:spPr/>
        <p:txBody>
          <a:bodyPr/>
          <a:lstStyle/>
          <a:p>
            <a:fld id="{42D81BDF-C6D2-423D-8653-3B76D2494B52}" type="datetimeFigureOut">
              <a:rPr lang="en-CA" smtClean="0"/>
              <a:t>2025-03-12</a:t>
            </a:fld>
            <a:endParaRPr lang="en-CA"/>
          </a:p>
        </p:txBody>
      </p:sp>
      <p:sp>
        <p:nvSpPr>
          <p:cNvPr id="5" name="Footer Placeholder 4">
            <a:extLst>
              <a:ext uri="{FF2B5EF4-FFF2-40B4-BE49-F238E27FC236}">
                <a16:creationId xmlns:a16="http://schemas.microsoft.com/office/drawing/2014/main" id="{DE61D9D8-4C53-0AB3-13C4-35AF2DB76E9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F407251-C986-334A-D855-1A084F5AB18E}"/>
              </a:ext>
            </a:extLst>
          </p:cNvPr>
          <p:cNvSpPr>
            <a:spLocks noGrp="1"/>
          </p:cNvSpPr>
          <p:nvPr>
            <p:ph type="sldNum" sz="quarter" idx="12"/>
          </p:nvPr>
        </p:nvSpPr>
        <p:spPr/>
        <p:txBody>
          <a:bodyPr/>
          <a:lstStyle/>
          <a:p>
            <a:fld id="{4EC414C6-85E6-4DE0-8D03-D442913A2244}" type="slidenum">
              <a:rPr lang="en-CA" smtClean="0"/>
              <a:t>‹#›</a:t>
            </a:fld>
            <a:endParaRPr lang="en-CA"/>
          </a:p>
        </p:txBody>
      </p:sp>
    </p:spTree>
    <p:extLst>
      <p:ext uri="{BB962C8B-B14F-4D97-AF65-F5344CB8AC3E}">
        <p14:creationId xmlns:p14="http://schemas.microsoft.com/office/powerpoint/2010/main" val="3870702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9A309-7A4B-8896-3C29-6F9C8EF4E6E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BF755DB-033E-9A51-119C-D8E21F5C21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35FEA4A-41C9-EDF8-F902-A36FDB9D8C51}"/>
              </a:ext>
            </a:extLst>
          </p:cNvPr>
          <p:cNvSpPr>
            <a:spLocks noGrp="1"/>
          </p:cNvSpPr>
          <p:nvPr>
            <p:ph type="dt" sz="half" idx="10"/>
          </p:nvPr>
        </p:nvSpPr>
        <p:spPr/>
        <p:txBody>
          <a:bodyPr/>
          <a:lstStyle/>
          <a:p>
            <a:fld id="{42D81BDF-C6D2-423D-8653-3B76D2494B52}" type="datetimeFigureOut">
              <a:rPr lang="en-CA" smtClean="0"/>
              <a:t>2025-03-12</a:t>
            </a:fld>
            <a:endParaRPr lang="en-CA"/>
          </a:p>
        </p:txBody>
      </p:sp>
      <p:sp>
        <p:nvSpPr>
          <p:cNvPr id="5" name="Footer Placeholder 4">
            <a:extLst>
              <a:ext uri="{FF2B5EF4-FFF2-40B4-BE49-F238E27FC236}">
                <a16:creationId xmlns:a16="http://schemas.microsoft.com/office/drawing/2014/main" id="{10FAA197-A299-1867-381F-81257A1E0C1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7A6EFA7-5E60-FE5B-A698-E8DEDFC23382}"/>
              </a:ext>
            </a:extLst>
          </p:cNvPr>
          <p:cNvSpPr>
            <a:spLocks noGrp="1"/>
          </p:cNvSpPr>
          <p:nvPr>
            <p:ph type="sldNum" sz="quarter" idx="12"/>
          </p:nvPr>
        </p:nvSpPr>
        <p:spPr/>
        <p:txBody>
          <a:bodyPr/>
          <a:lstStyle/>
          <a:p>
            <a:fld id="{4EC414C6-85E6-4DE0-8D03-D442913A2244}" type="slidenum">
              <a:rPr lang="en-CA" smtClean="0"/>
              <a:t>‹#›</a:t>
            </a:fld>
            <a:endParaRPr lang="en-CA"/>
          </a:p>
        </p:txBody>
      </p:sp>
    </p:spTree>
    <p:extLst>
      <p:ext uri="{BB962C8B-B14F-4D97-AF65-F5344CB8AC3E}">
        <p14:creationId xmlns:p14="http://schemas.microsoft.com/office/powerpoint/2010/main" val="775683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37D1B-556B-F4FF-D134-B0553A186F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2E29D411-32BA-A2A6-BBFB-61DF26DA7E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B595A4-EEB3-2531-607F-2A467F61770D}"/>
              </a:ext>
            </a:extLst>
          </p:cNvPr>
          <p:cNvSpPr>
            <a:spLocks noGrp="1"/>
          </p:cNvSpPr>
          <p:nvPr>
            <p:ph type="dt" sz="half" idx="10"/>
          </p:nvPr>
        </p:nvSpPr>
        <p:spPr/>
        <p:txBody>
          <a:bodyPr/>
          <a:lstStyle/>
          <a:p>
            <a:fld id="{42D81BDF-C6D2-423D-8653-3B76D2494B52}" type="datetimeFigureOut">
              <a:rPr lang="en-CA" smtClean="0"/>
              <a:t>2025-03-12</a:t>
            </a:fld>
            <a:endParaRPr lang="en-CA"/>
          </a:p>
        </p:txBody>
      </p:sp>
      <p:sp>
        <p:nvSpPr>
          <p:cNvPr id="5" name="Footer Placeholder 4">
            <a:extLst>
              <a:ext uri="{FF2B5EF4-FFF2-40B4-BE49-F238E27FC236}">
                <a16:creationId xmlns:a16="http://schemas.microsoft.com/office/drawing/2014/main" id="{DA97EAE4-7D59-CF2C-FC54-C68BB2BAA5E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4C72B6B-6FBF-5B73-389B-63A93E021B9F}"/>
              </a:ext>
            </a:extLst>
          </p:cNvPr>
          <p:cNvSpPr>
            <a:spLocks noGrp="1"/>
          </p:cNvSpPr>
          <p:nvPr>
            <p:ph type="sldNum" sz="quarter" idx="12"/>
          </p:nvPr>
        </p:nvSpPr>
        <p:spPr/>
        <p:txBody>
          <a:bodyPr/>
          <a:lstStyle/>
          <a:p>
            <a:fld id="{4EC414C6-85E6-4DE0-8D03-D442913A2244}" type="slidenum">
              <a:rPr lang="en-CA" smtClean="0"/>
              <a:t>‹#›</a:t>
            </a:fld>
            <a:endParaRPr lang="en-CA"/>
          </a:p>
        </p:txBody>
      </p:sp>
    </p:spTree>
    <p:extLst>
      <p:ext uri="{BB962C8B-B14F-4D97-AF65-F5344CB8AC3E}">
        <p14:creationId xmlns:p14="http://schemas.microsoft.com/office/powerpoint/2010/main" val="384844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8590A-8D98-29CF-56F6-4FDA9C3780E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2EB6200-A536-DD15-6053-C57D17909B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E43DA07-3AE9-D26F-20CC-FD58A9773B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E12B8F6-337E-E73B-C481-2C20CAEAAD3C}"/>
              </a:ext>
            </a:extLst>
          </p:cNvPr>
          <p:cNvSpPr>
            <a:spLocks noGrp="1"/>
          </p:cNvSpPr>
          <p:nvPr>
            <p:ph type="dt" sz="half" idx="10"/>
          </p:nvPr>
        </p:nvSpPr>
        <p:spPr/>
        <p:txBody>
          <a:bodyPr/>
          <a:lstStyle/>
          <a:p>
            <a:fld id="{42D81BDF-C6D2-423D-8653-3B76D2494B52}" type="datetimeFigureOut">
              <a:rPr lang="en-CA" smtClean="0"/>
              <a:t>2025-03-12</a:t>
            </a:fld>
            <a:endParaRPr lang="en-CA"/>
          </a:p>
        </p:txBody>
      </p:sp>
      <p:sp>
        <p:nvSpPr>
          <p:cNvPr id="6" name="Footer Placeholder 5">
            <a:extLst>
              <a:ext uri="{FF2B5EF4-FFF2-40B4-BE49-F238E27FC236}">
                <a16:creationId xmlns:a16="http://schemas.microsoft.com/office/drawing/2014/main" id="{6CF2C9AB-DAF5-2D93-9BB7-D739439B6F8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683158A-5191-F0C2-3D0A-2C576CF54547}"/>
              </a:ext>
            </a:extLst>
          </p:cNvPr>
          <p:cNvSpPr>
            <a:spLocks noGrp="1"/>
          </p:cNvSpPr>
          <p:nvPr>
            <p:ph type="sldNum" sz="quarter" idx="12"/>
          </p:nvPr>
        </p:nvSpPr>
        <p:spPr/>
        <p:txBody>
          <a:bodyPr/>
          <a:lstStyle/>
          <a:p>
            <a:fld id="{4EC414C6-85E6-4DE0-8D03-D442913A2244}" type="slidenum">
              <a:rPr lang="en-CA" smtClean="0"/>
              <a:t>‹#›</a:t>
            </a:fld>
            <a:endParaRPr lang="en-CA"/>
          </a:p>
        </p:txBody>
      </p:sp>
    </p:spTree>
    <p:extLst>
      <p:ext uri="{BB962C8B-B14F-4D97-AF65-F5344CB8AC3E}">
        <p14:creationId xmlns:p14="http://schemas.microsoft.com/office/powerpoint/2010/main" val="1271194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52188-202D-EEBB-F16E-A80FDD3DDB7C}"/>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EA70975-54F9-D4DA-940B-6A61918EA6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C8DA4E-DAC3-C227-F64E-630E59935B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09FA86D-14BB-2218-A0CE-5B166261C9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E77B35-C609-4FF3-A7C4-8919375476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42404A34-9435-C7A2-819C-EC1A126F9FD6}"/>
              </a:ext>
            </a:extLst>
          </p:cNvPr>
          <p:cNvSpPr>
            <a:spLocks noGrp="1"/>
          </p:cNvSpPr>
          <p:nvPr>
            <p:ph type="dt" sz="half" idx="10"/>
          </p:nvPr>
        </p:nvSpPr>
        <p:spPr/>
        <p:txBody>
          <a:bodyPr/>
          <a:lstStyle/>
          <a:p>
            <a:fld id="{42D81BDF-C6D2-423D-8653-3B76D2494B52}" type="datetimeFigureOut">
              <a:rPr lang="en-CA" smtClean="0"/>
              <a:t>2025-03-12</a:t>
            </a:fld>
            <a:endParaRPr lang="en-CA"/>
          </a:p>
        </p:txBody>
      </p:sp>
      <p:sp>
        <p:nvSpPr>
          <p:cNvPr id="8" name="Footer Placeholder 7">
            <a:extLst>
              <a:ext uri="{FF2B5EF4-FFF2-40B4-BE49-F238E27FC236}">
                <a16:creationId xmlns:a16="http://schemas.microsoft.com/office/drawing/2014/main" id="{4ABF2A1B-A99A-CD74-AC84-C55AF2227DE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431149D3-1C67-B69C-0123-0D668639DBDD}"/>
              </a:ext>
            </a:extLst>
          </p:cNvPr>
          <p:cNvSpPr>
            <a:spLocks noGrp="1"/>
          </p:cNvSpPr>
          <p:nvPr>
            <p:ph type="sldNum" sz="quarter" idx="12"/>
          </p:nvPr>
        </p:nvSpPr>
        <p:spPr/>
        <p:txBody>
          <a:bodyPr/>
          <a:lstStyle/>
          <a:p>
            <a:fld id="{4EC414C6-85E6-4DE0-8D03-D442913A2244}" type="slidenum">
              <a:rPr lang="en-CA" smtClean="0"/>
              <a:t>‹#›</a:t>
            </a:fld>
            <a:endParaRPr lang="en-CA"/>
          </a:p>
        </p:txBody>
      </p:sp>
    </p:spTree>
    <p:extLst>
      <p:ext uri="{BB962C8B-B14F-4D97-AF65-F5344CB8AC3E}">
        <p14:creationId xmlns:p14="http://schemas.microsoft.com/office/powerpoint/2010/main" val="2893832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0E4C8-AE17-99C3-0F48-2D4237F78965}"/>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805A208-DF9D-01DD-5CAC-B3900F3D31EE}"/>
              </a:ext>
            </a:extLst>
          </p:cNvPr>
          <p:cNvSpPr>
            <a:spLocks noGrp="1"/>
          </p:cNvSpPr>
          <p:nvPr>
            <p:ph type="dt" sz="half" idx="10"/>
          </p:nvPr>
        </p:nvSpPr>
        <p:spPr/>
        <p:txBody>
          <a:bodyPr/>
          <a:lstStyle/>
          <a:p>
            <a:fld id="{42D81BDF-C6D2-423D-8653-3B76D2494B52}" type="datetimeFigureOut">
              <a:rPr lang="en-CA" smtClean="0"/>
              <a:t>2025-03-12</a:t>
            </a:fld>
            <a:endParaRPr lang="en-CA"/>
          </a:p>
        </p:txBody>
      </p:sp>
      <p:sp>
        <p:nvSpPr>
          <p:cNvPr id="4" name="Footer Placeholder 3">
            <a:extLst>
              <a:ext uri="{FF2B5EF4-FFF2-40B4-BE49-F238E27FC236}">
                <a16:creationId xmlns:a16="http://schemas.microsoft.com/office/drawing/2014/main" id="{9253E2F4-51F9-0873-D456-D63CB367599F}"/>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79A78D03-F0B5-D35A-525D-6EB6EA4C1E29}"/>
              </a:ext>
            </a:extLst>
          </p:cNvPr>
          <p:cNvSpPr>
            <a:spLocks noGrp="1"/>
          </p:cNvSpPr>
          <p:nvPr>
            <p:ph type="sldNum" sz="quarter" idx="12"/>
          </p:nvPr>
        </p:nvSpPr>
        <p:spPr/>
        <p:txBody>
          <a:bodyPr/>
          <a:lstStyle/>
          <a:p>
            <a:fld id="{4EC414C6-85E6-4DE0-8D03-D442913A2244}" type="slidenum">
              <a:rPr lang="en-CA" smtClean="0"/>
              <a:t>‹#›</a:t>
            </a:fld>
            <a:endParaRPr lang="en-CA"/>
          </a:p>
        </p:txBody>
      </p:sp>
    </p:spTree>
    <p:extLst>
      <p:ext uri="{BB962C8B-B14F-4D97-AF65-F5344CB8AC3E}">
        <p14:creationId xmlns:p14="http://schemas.microsoft.com/office/powerpoint/2010/main" val="3495874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D30D52-63D1-07AE-F066-2D242C9BE6CD}"/>
              </a:ext>
            </a:extLst>
          </p:cNvPr>
          <p:cNvSpPr>
            <a:spLocks noGrp="1"/>
          </p:cNvSpPr>
          <p:nvPr>
            <p:ph type="dt" sz="half" idx="10"/>
          </p:nvPr>
        </p:nvSpPr>
        <p:spPr/>
        <p:txBody>
          <a:bodyPr/>
          <a:lstStyle/>
          <a:p>
            <a:fld id="{42D81BDF-C6D2-423D-8653-3B76D2494B52}" type="datetimeFigureOut">
              <a:rPr lang="en-CA" smtClean="0"/>
              <a:t>2025-03-12</a:t>
            </a:fld>
            <a:endParaRPr lang="en-CA"/>
          </a:p>
        </p:txBody>
      </p:sp>
      <p:sp>
        <p:nvSpPr>
          <p:cNvPr id="3" name="Footer Placeholder 2">
            <a:extLst>
              <a:ext uri="{FF2B5EF4-FFF2-40B4-BE49-F238E27FC236}">
                <a16:creationId xmlns:a16="http://schemas.microsoft.com/office/drawing/2014/main" id="{5F81CDFB-BB26-32E6-A9CD-ABDA43743D4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B3BF9B7E-C4E7-C914-99FC-FA1E8227A346}"/>
              </a:ext>
            </a:extLst>
          </p:cNvPr>
          <p:cNvSpPr>
            <a:spLocks noGrp="1"/>
          </p:cNvSpPr>
          <p:nvPr>
            <p:ph type="sldNum" sz="quarter" idx="12"/>
          </p:nvPr>
        </p:nvSpPr>
        <p:spPr/>
        <p:txBody>
          <a:bodyPr/>
          <a:lstStyle/>
          <a:p>
            <a:fld id="{4EC414C6-85E6-4DE0-8D03-D442913A2244}" type="slidenum">
              <a:rPr lang="en-CA" smtClean="0"/>
              <a:t>‹#›</a:t>
            </a:fld>
            <a:endParaRPr lang="en-CA"/>
          </a:p>
        </p:txBody>
      </p:sp>
    </p:spTree>
    <p:extLst>
      <p:ext uri="{BB962C8B-B14F-4D97-AF65-F5344CB8AC3E}">
        <p14:creationId xmlns:p14="http://schemas.microsoft.com/office/powerpoint/2010/main" val="3026359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0C043-47F6-0C3A-4855-2647074091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EF5B5AC-5F0A-B1EA-EB6C-0E613A9546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63C850D-A780-98DE-DBA4-BEF2F5A90C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61E7CE-7B7D-3BE0-DEE2-E3FBE549B06E}"/>
              </a:ext>
            </a:extLst>
          </p:cNvPr>
          <p:cNvSpPr>
            <a:spLocks noGrp="1"/>
          </p:cNvSpPr>
          <p:nvPr>
            <p:ph type="dt" sz="half" idx="10"/>
          </p:nvPr>
        </p:nvSpPr>
        <p:spPr/>
        <p:txBody>
          <a:bodyPr/>
          <a:lstStyle/>
          <a:p>
            <a:fld id="{42D81BDF-C6D2-423D-8653-3B76D2494B52}" type="datetimeFigureOut">
              <a:rPr lang="en-CA" smtClean="0"/>
              <a:t>2025-03-12</a:t>
            </a:fld>
            <a:endParaRPr lang="en-CA"/>
          </a:p>
        </p:txBody>
      </p:sp>
      <p:sp>
        <p:nvSpPr>
          <p:cNvPr id="6" name="Footer Placeholder 5">
            <a:extLst>
              <a:ext uri="{FF2B5EF4-FFF2-40B4-BE49-F238E27FC236}">
                <a16:creationId xmlns:a16="http://schemas.microsoft.com/office/drawing/2014/main" id="{EA7E81CF-AAA3-E8A3-19D6-81FF4B0ED60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5992CDE-482F-7EF9-86A0-522BCD7FE3D4}"/>
              </a:ext>
            </a:extLst>
          </p:cNvPr>
          <p:cNvSpPr>
            <a:spLocks noGrp="1"/>
          </p:cNvSpPr>
          <p:nvPr>
            <p:ph type="sldNum" sz="quarter" idx="12"/>
          </p:nvPr>
        </p:nvSpPr>
        <p:spPr/>
        <p:txBody>
          <a:bodyPr/>
          <a:lstStyle/>
          <a:p>
            <a:fld id="{4EC414C6-85E6-4DE0-8D03-D442913A2244}" type="slidenum">
              <a:rPr lang="en-CA" smtClean="0"/>
              <a:t>‹#›</a:t>
            </a:fld>
            <a:endParaRPr lang="en-CA"/>
          </a:p>
        </p:txBody>
      </p:sp>
    </p:spTree>
    <p:extLst>
      <p:ext uri="{BB962C8B-B14F-4D97-AF65-F5344CB8AC3E}">
        <p14:creationId xmlns:p14="http://schemas.microsoft.com/office/powerpoint/2010/main" val="2003604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63568-6E37-D9B2-6943-A295ABC402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41EFFB0E-F0C4-D3FF-31DE-2703CC7357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8DE51CF2-F604-1F91-45F9-0A3E1187E6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0AF875-4C8E-EBDF-512D-3EB51A941808}"/>
              </a:ext>
            </a:extLst>
          </p:cNvPr>
          <p:cNvSpPr>
            <a:spLocks noGrp="1"/>
          </p:cNvSpPr>
          <p:nvPr>
            <p:ph type="dt" sz="half" idx="10"/>
          </p:nvPr>
        </p:nvSpPr>
        <p:spPr/>
        <p:txBody>
          <a:bodyPr/>
          <a:lstStyle/>
          <a:p>
            <a:fld id="{42D81BDF-C6D2-423D-8653-3B76D2494B52}" type="datetimeFigureOut">
              <a:rPr lang="en-CA" smtClean="0"/>
              <a:t>2025-03-12</a:t>
            </a:fld>
            <a:endParaRPr lang="en-CA"/>
          </a:p>
        </p:txBody>
      </p:sp>
      <p:sp>
        <p:nvSpPr>
          <p:cNvPr id="6" name="Footer Placeholder 5">
            <a:extLst>
              <a:ext uri="{FF2B5EF4-FFF2-40B4-BE49-F238E27FC236}">
                <a16:creationId xmlns:a16="http://schemas.microsoft.com/office/drawing/2014/main" id="{BDB8C23E-3CFF-2715-CFE0-D79B23E9DAD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11C97C8-06F4-47D5-CC07-4A5BFFEAFFE9}"/>
              </a:ext>
            </a:extLst>
          </p:cNvPr>
          <p:cNvSpPr>
            <a:spLocks noGrp="1"/>
          </p:cNvSpPr>
          <p:nvPr>
            <p:ph type="sldNum" sz="quarter" idx="12"/>
          </p:nvPr>
        </p:nvSpPr>
        <p:spPr/>
        <p:txBody>
          <a:bodyPr/>
          <a:lstStyle/>
          <a:p>
            <a:fld id="{4EC414C6-85E6-4DE0-8D03-D442913A2244}" type="slidenum">
              <a:rPr lang="en-CA" smtClean="0"/>
              <a:t>‹#›</a:t>
            </a:fld>
            <a:endParaRPr lang="en-CA"/>
          </a:p>
        </p:txBody>
      </p:sp>
    </p:spTree>
    <p:extLst>
      <p:ext uri="{BB962C8B-B14F-4D97-AF65-F5344CB8AC3E}">
        <p14:creationId xmlns:p14="http://schemas.microsoft.com/office/powerpoint/2010/main" val="4264934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6BB7C-B320-C8E6-9015-5CDBED40927D}"/>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05FB197-5FE9-DE9D-4F9C-79A79CCDD5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68D4E0D-249B-8908-5ECF-D2A8C5CD3EA0}"/>
              </a:ext>
            </a:extLst>
          </p:cNvPr>
          <p:cNvSpPr>
            <a:spLocks noGrp="1"/>
          </p:cNvSpPr>
          <p:nvPr>
            <p:ph type="dt" sz="half" idx="10"/>
          </p:nvPr>
        </p:nvSpPr>
        <p:spPr/>
        <p:txBody>
          <a:bodyPr/>
          <a:lstStyle/>
          <a:p>
            <a:fld id="{42D81BDF-C6D2-423D-8653-3B76D2494B52}" type="datetimeFigureOut">
              <a:rPr lang="en-CA" smtClean="0"/>
              <a:t>2025-03-12</a:t>
            </a:fld>
            <a:endParaRPr lang="en-CA"/>
          </a:p>
        </p:txBody>
      </p:sp>
      <p:sp>
        <p:nvSpPr>
          <p:cNvPr id="5" name="Footer Placeholder 4">
            <a:extLst>
              <a:ext uri="{FF2B5EF4-FFF2-40B4-BE49-F238E27FC236}">
                <a16:creationId xmlns:a16="http://schemas.microsoft.com/office/drawing/2014/main" id="{025AF5C9-6395-D262-69C0-0464C71B71B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A349FA1-49A7-AD66-5B49-457CBAE4003D}"/>
              </a:ext>
            </a:extLst>
          </p:cNvPr>
          <p:cNvSpPr>
            <a:spLocks noGrp="1"/>
          </p:cNvSpPr>
          <p:nvPr>
            <p:ph type="sldNum" sz="quarter" idx="12"/>
          </p:nvPr>
        </p:nvSpPr>
        <p:spPr/>
        <p:txBody>
          <a:bodyPr/>
          <a:lstStyle/>
          <a:p>
            <a:fld id="{4EC414C6-85E6-4DE0-8D03-D442913A2244}" type="slidenum">
              <a:rPr lang="en-CA" smtClean="0"/>
              <a:t>‹#›</a:t>
            </a:fld>
            <a:endParaRPr lang="en-CA"/>
          </a:p>
        </p:txBody>
      </p:sp>
    </p:spTree>
    <p:extLst>
      <p:ext uri="{BB962C8B-B14F-4D97-AF65-F5344CB8AC3E}">
        <p14:creationId xmlns:p14="http://schemas.microsoft.com/office/powerpoint/2010/main" val="3041810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24B3DD-D60D-686E-E4C8-DB2B9D0790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1E548BC-FDD8-F6FC-4020-B366BC8D9F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3C157D9-7DC6-4D89-B2F9-1A11A3D1812C}"/>
              </a:ext>
            </a:extLst>
          </p:cNvPr>
          <p:cNvSpPr>
            <a:spLocks noGrp="1"/>
          </p:cNvSpPr>
          <p:nvPr>
            <p:ph type="dt" sz="half" idx="10"/>
          </p:nvPr>
        </p:nvSpPr>
        <p:spPr/>
        <p:txBody>
          <a:bodyPr/>
          <a:lstStyle/>
          <a:p>
            <a:fld id="{42D81BDF-C6D2-423D-8653-3B76D2494B52}" type="datetimeFigureOut">
              <a:rPr lang="en-CA" smtClean="0"/>
              <a:t>2025-03-12</a:t>
            </a:fld>
            <a:endParaRPr lang="en-CA"/>
          </a:p>
        </p:txBody>
      </p:sp>
      <p:sp>
        <p:nvSpPr>
          <p:cNvPr id="5" name="Footer Placeholder 4">
            <a:extLst>
              <a:ext uri="{FF2B5EF4-FFF2-40B4-BE49-F238E27FC236}">
                <a16:creationId xmlns:a16="http://schemas.microsoft.com/office/drawing/2014/main" id="{7C7DFA8D-1B89-7252-D4EC-2F49D45E35C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8B586D6-3286-6330-114B-BA7532E1D44F}"/>
              </a:ext>
            </a:extLst>
          </p:cNvPr>
          <p:cNvSpPr>
            <a:spLocks noGrp="1"/>
          </p:cNvSpPr>
          <p:nvPr>
            <p:ph type="sldNum" sz="quarter" idx="12"/>
          </p:nvPr>
        </p:nvSpPr>
        <p:spPr/>
        <p:txBody>
          <a:bodyPr/>
          <a:lstStyle/>
          <a:p>
            <a:fld id="{4EC414C6-85E6-4DE0-8D03-D442913A2244}" type="slidenum">
              <a:rPr lang="en-CA" smtClean="0"/>
              <a:t>‹#›</a:t>
            </a:fld>
            <a:endParaRPr lang="en-CA"/>
          </a:p>
        </p:txBody>
      </p:sp>
    </p:spTree>
    <p:extLst>
      <p:ext uri="{BB962C8B-B14F-4D97-AF65-F5344CB8AC3E}">
        <p14:creationId xmlns:p14="http://schemas.microsoft.com/office/powerpoint/2010/main" val="4048492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3E3A5C-896C-0FD4-6B29-AA6729C24F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C0A6F4D-4742-1718-7B4C-F278EE5FF0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5A09828-5D69-9132-C06A-D8D97C553E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D81BDF-C6D2-423D-8653-3B76D2494B52}" type="datetimeFigureOut">
              <a:rPr lang="en-CA" smtClean="0"/>
              <a:t>2025-03-12</a:t>
            </a:fld>
            <a:endParaRPr lang="en-CA"/>
          </a:p>
        </p:txBody>
      </p:sp>
      <p:sp>
        <p:nvSpPr>
          <p:cNvPr id="5" name="Footer Placeholder 4">
            <a:extLst>
              <a:ext uri="{FF2B5EF4-FFF2-40B4-BE49-F238E27FC236}">
                <a16:creationId xmlns:a16="http://schemas.microsoft.com/office/drawing/2014/main" id="{4DB0AA68-C472-AE4E-CCFD-E2BC47A69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8C044BD8-3371-DC33-D6C2-F1DD2F5C2B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C414C6-85E6-4DE0-8D03-D442913A2244}" type="slidenum">
              <a:rPr lang="en-CA" smtClean="0"/>
              <a:t>‹#›</a:t>
            </a:fld>
            <a:endParaRPr lang="en-CA"/>
          </a:p>
        </p:txBody>
      </p:sp>
    </p:spTree>
    <p:extLst>
      <p:ext uri="{BB962C8B-B14F-4D97-AF65-F5344CB8AC3E}">
        <p14:creationId xmlns:p14="http://schemas.microsoft.com/office/powerpoint/2010/main" val="1111838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ity skyline at night&#10;&#10;AI-generated content may be incorrect.">
            <a:extLst>
              <a:ext uri="{FF2B5EF4-FFF2-40B4-BE49-F238E27FC236}">
                <a16:creationId xmlns:a16="http://schemas.microsoft.com/office/drawing/2014/main" id="{D7EEA498-538E-F17D-0402-9263817BE888}"/>
              </a:ext>
            </a:extLst>
          </p:cNvPr>
          <p:cNvPicPr>
            <a:picLocks noChangeAspect="1"/>
          </p:cNvPicPr>
          <p:nvPr/>
        </p:nvPicPr>
        <p:blipFill>
          <a:blip r:embed="rId2">
            <a:extLst>
              <a:ext uri="{28A0092B-C50C-407E-A947-70E740481C1C}">
                <a14:useLocalDpi xmlns:a14="http://schemas.microsoft.com/office/drawing/2010/main" val="0"/>
              </a:ext>
            </a:extLst>
          </a:blip>
          <a:srcRect l="19122" r="24314" b="1"/>
          <a:stretch/>
        </p:blipFill>
        <p:spPr>
          <a:xfrm>
            <a:off x="3523488" y="10"/>
            <a:ext cx="8668512" cy="6857990"/>
          </a:xfrm>
          <a:prstGeom prst="rect">
            <a:avLst/>
          </a:prstGeom>
        </p:spPr>
      </p:pic>
      <p:sp>
        <p:nvSpPr>
          <p:cNvPr id="48" name="Rectangle 47">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13DBA8-DC72-7CC3-6B1D-5C1FAE189A2B}"/>
              </a:ext>
            </a:extLst>
          </p:cNvPr>
          <p:cNvSpPr>
            <a:spLocks noGrp="1"/>
          </p:cNvSpPr>
          <p:nvPr>
            <p:ph type="ctrTitle"/>
          </p:nvPr>
        </p:nvSpPr>
        <p:spPr>
          <a:xfrm>
            <a:off x="477981" y="1122363"/>
            <a:ext cx="4023360" cy="3204134"/>
          </a:xfrm>
        </p:spPr>
        <p:txBody>
          <a:bodyPr anchor="b">
            <a:normAutofit/>
          </a:bodyPr>
          <a:lstStyle/>
          <a:p>
            <a:pPr algn="l"/>
            <a:r>
              <a:rPr lang="en-US" sz="4400">
                <a:latin typeface="Sitka Subheading"/>
              </a:rPr>
              <a:t>Best-selling Regions in Edmonton</a:t>
            </a:r>
            <a:br>
              <a:rPr lang="en-US" sz="4400">
                <a:latin typeface="Sitka Subheading"/>
              </a:rPr>
            </a:br>
            <a:r>
              <a:rPr lang="en-US" sz="4400">
                <a:latin typeface="Sitka Subheading"/>
                <a:ea typeface="+mj-lt"/>
                <a:cs typeface="+mj-lt"/>
              </a:rPr>
              <a:t>(clustering</a:t>
            </a:r>
            <a:r>
              <a:rPr lang="en-US" sz="4400" b="0">
                <a:ea typeface="+mj-lt"/>
                <a:cs typeface="+mj-lt"/>
              </a:rPr>
              <a:t>) – Go Auto</a:t>
            </a:r>
            <a:r>
              <a:rPr lang="en-US" sz="4400">
                <a:latin typeface="Sitka Subheading"/>
              </a:rPr>
              <a:t>) </a:t>
            </a:r>
            <a:endParaRPr lang="en-CA" sz="4400"/>
          </a:p>
        </p:txBody>
      </p:sp>
      <p:sp>
        <p:nvSpPr>
          <p:cNvPr id="3" name="Subtitle 2">
            <a:extLst>
              <a:ext uri="{FF2B5EF4-FFF2-40B4-BE49-F238E27FC236}">
                <a16:creationId xmlns:a16="http://schemas.microsoft.com/office/drawing/2014/main" id="{CDE2DC24-C117-E828-B837-ECA05C250D2C}"/>
              </a:ext>
            </a:extLst>
          </p:cNvPr>
          <p:cNvSpPr>
            <a:spLocks noGrp="1"/>
          </p:cNvSpPr>
          <p:nvPr>
            <p:ph type="subTitle" idx="1"/>
          </p:nvPr>
        </p:nvSpPr>
        <p:spPr>
          <a:xfrm>
            <a:off x="477981" y="4872922"/>
            <a:ext cx="3933306" cy="1208141"/>
          </a:xfrm>
        </p:spPr>
        <p:txBody>
          <a:bodyPr>
            <a:normAutofit/>
          </a:bodyPr>
          <a:lstStyle/>
          <a:p>
            <a:pPr algn="l"/>
            <a:r>
              <a:rPr lang="en-US" sz="2000">
                <a:latin typeface="Avenir Next LT Pro"/>
              </a:rPr>
              <a:t>CMPT 3830 </a:t>
            </a:r>
          </a:p>
          <a:p>
            <a:pPr algn="l"/>
            <a:r>
              <a:rPr lang="en-US" sz="2000">
                <a:latin typeface="Avenir Next LT Pro"/>
              </a:rPr>
              <a:t>Md Mahbub Mishu</a:t>
            </a:r>
          </a:p>
          <a:p>
            <a:pPr algn="l"/>
            <a:endParaRPr lang="en-CA" sz="2000"/>
          </a:p>
        </p:txBody>
      </p:sp>
      <p:sp>
        <p:nvSpPr>
          <p:cNvPr id="49" name="Rectangle 4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0" name="Rectangle 4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1104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26" name="Group 25">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467600" cy="6858000"/>
            <a:chOff x="7467600" y="0"/>
            <a:chExt cx="4724400" cy="6858000"/>
          </a:xfrm>
        </p:grpSpPr>
        <p:sp>
          <p:nvSpPr>
            <p:cNvPr id="27" name="Rectangle 26">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0" name="Freeform: Shape 29">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32" name="Rectangle 31">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2808C9FD-C342-C937-E305-C1DA779D9531}"/>
              </a:ext>
            </a:extLst>
          </p:cNvPr>
          <p:cNvSpPr>
            <a:spLocks noGrp="1"/>
          </p:cNvSpPr>
          <p:nvPr>
            <p:ph type="ctrTitle"/>
          </p:nvPr>
        </p:nvSpPr>
        <p:spPr>
          <a:xfrm>
            <a:off x="1143000" y="1676400"/>
            <a:ext cx="3810000" cy="3505200"/>
          </a:xfrm>
        </p:spPr>
        <p:txBody>
          <a:bodyPr vert="horz" lIns="91440" tIns="45720" rIns="91440" bIns="45720" rtlCol="0" anchor="t">
            <a:normAutofit/>
          </a:bodyPr>
          <a:lstStyle/>
          <a:p>
            <a:pPr algn="l"/>
            <a:r>
              <a:rPr lang="en-US" sz="4000" b="1" kern="1200">
                <a:solidFill>
                  <a:schemeClr val="tx1"/>
                </a:solidFill>
                <a:latin typeface="+mj-lt"/>
                <a:ea typeface="+mj-ea"/>
                <a:cs typeface="+mj-cs"/>
              </a:rPr>
              <a:t>GROUP NAME &amp; MEMBERS</a:t>
            </a:r>
          </a:p>
        </p:txBody>
      </p:sp>
      <p:sp>
        <p:nvSpPr>
          <p:cNvPr id="3" name="Subtitle 2">
            <a:extLst>
              <a:ext uri="{FF2B5EF4-FFF2-40B4-BE49-F238E27FC236}">
                <a16:creationId xmlns:a16="http://schemas.microsoft.com/office/drawing/2014/main" id="{0C5779BB-7096-15F6-7AF0-FB4FFD7811A2}"/>
              </a:ext>
            </a:extLst>
          </p:cNvPr>
          <p:cNvSpPr>
            <a:spLocks noGrp="1"/>
          </p:cNvSpPr>
          <p:nvPr>
            <p:ph type="subTitle" idx="1"/>
          </p:nvPr>
        </p:nvSpPr>
        <p:spPr>
          <a:xfrm>
            <a:off x="5181604" y="1676400"/>
            <a:ext cx="5638796" cy="3505200"/>
          </a:xfrm>
        </p:spPr>
        <p:txBody>
          <a:bodyPr vert="horz" lIns="91440" tIns="45720" rIns="91440" bIns="45720" rtlCol="0" anchor="t">
            <a:normAutofit/>
          </a:bodyPr>
          <a:lstStyle/>
          <a:p>
            <a:pPr algn="l"/>
            <a:r>
              <a:rPr lang="en-US" sz="1700" b="1" err="1">
                <a:solidFill>
                  <a:schemeClr val="tx1">
                    <a:alpha val="55000"/>
                  </a:schemeClr>
                </a:solidFill>
              </a:rPr>
              <a:t>Anmolpreet</a:t>
            </a:r>
            <a:r>
              <a:rPr lang="en-US" sz="1700" b="1">
                <a:solidFill>
                  <a:schemeClr val="tx1">
                    <a:alpha val="55000"/>
                  </a:schemeClr>
                </a:solidFill>
              </a:rPr>
              <a:t> Kaur: Team Leader</a:t>
            </a:r>
            <a:endParaRPr lang="en-US">
              <a:solidFill>
                <a:schemeClr val="tx1">
                  <a:alpha val="55000"/>
                </a:schemeClr>
              </a:solidFill>
            </a:endParaRPr>
          </a:p>
          <a:p>
            <a:pPr marL="342900" indent="-228600" algn="l">
              <a:buFont typeface="Arial" panose="020B0604020202020204" pitchFamily="34" charset="0"/>
              <a:buChar char="•"/>
            </a:pPr>
            <a:r>
              <a:rPr lang="en-US" sz="1700">
                <a:solidFill>
                  <a:schemeClr val="tx1">
                    <a:alpha val="55000"/>
                  </a:schemeClr>
                </a:solidFill>
              </a:rPr>
              <a:t>Manages project workflow, leads Exploratory Data Analysis (EDA), and coordinates with instructor/client.</a:t>
            </a:r>
          </a:p>
          <a:p>
            <a:pPr algn="l"/>
            <a:r>
              <a:rPr lang="en-US" sz="1700" b="1">
                <a:solidFill>
                  <a:schemeClr val="tx1">
                    <a:alpha val="55000"/>
                  </a:schemeClr>
                </a:solidFill>
              </a:rPr>
              <a:t>Gurwinder Kaur: Data Preprocessing</a:t>
            </a:r>
          </a:p>
          <a:p>
            <a:pPr marL="342900" indent="-228600" algn="l">
              <a:buFont typeface="Arial" panose="020B0604020202020204" pitchFamily="34" charset="0"/>
              <a:buChar char="•"/>
            </a:pPr>
            <a:r>
              <a:rPr lang="en-US" sz="1700">
                <a:solidFill>
                  <a:schemeClr val="tx1">
                    <a:alpha val="55000"/>
                  </a:schemeClr>
                </a:solidFill>
              </a:rPr>
              <a:t>Responsible for cleaning and structuring data for analysis</a:t>
            </a:r>
          </a:p>
          <a:p>
            <a:pPr algn="l"/>
            <a:r>
              <a:rPr lang="en-US" sz="1700" b="1">
                <a:solidFill>
                  <a:schemeClr val="tx1">
                    <a:alpha val="55000"/>
                  </a:schemeClr>
                </a:solidFill>
              </a:rPr>
              <a:t>Harinderjeet Singh: Data visualization</a:t>
            </a:r>
          </a:p>
          <a:p>
            <a:pPr marL="342900" indent="-228600" algn="l">
              <a:buFont typeface="Arial" panose="020B0604020202020204" pitchFamily="34" charset="0"/>
              <a:buChar char="•"/>
            </a:pPr>
            <a:r>
              <a:rPr lang="en-US" sz="1700">
                <a:solidFill>
                  <a:schemeClr val="tx1">
                    <a:alpha val="55000"/>
                  </a:schemeClr>
                </a:solidFill>
              </a:rPr>
              <a:t>Design charts, maps and graphical insight to present </a:t>
            </a:r>
          </a:p>
          <a:p>
            <a:pPr algn="l"/>
            <a:r>
              <a:rPr lang="en-US" sz="1700" b="1" err="1">
                <a:solidFill>
                  <a:schemeClr val="tx1">
                    <a:alpha val="55000"/>
                  </a:schemeClr>
                </a:solidFill>
              </a:rPr>
              <a:t>Chahalpreet</a:t>
            </a:r>
            <a:r>
              <a:rPr lang="en-US" sz="1700" b="1">
                <a:solidFill>
                  <a:schemeClr val="tx1">
                    <a:alpha val="55000"/>
                  </a:schemeClr>
                </a:solidFill>
              </a:rPr>
              <a:t> Singh: ML Model</a:t>
            </a:r>
          </a:p>
          <a:p>
            <a:pPr marL="342900" indent="-228600" algn="l">
              <a:buFont typeface="Arial" panose="020B0604020202020204" pitchFamily="34" charset="0"/>
              <a:buChar char="•"/>
            </a:pPr>
            <a:r>
              <a:rPr lang="en-US" sz="1700">
                <a:solidFill>
                  <a:schemeClr val="tx1">
                    <a:alpha val="55000"/>
                  </a:schemeClr>
                </a:solidFill>
              </a:rPr>
              <a:t>Implements Machine Learning models and clustering</a:t>
            </a:r>
          </a:p>
          <a:p>
            <a:pPr indent="-228600" algn="l">
              <a:buFont typeface="Arial" panose="020B0604020202020204" pitchFamily="34" charset="0"/>
              <a:buChar char="•"/>
            </a:pPr>
            <a:endParaRPr lang="en-US" sz="1700">
              <a:solidFill>
                <a:schemeClr val="tx1">
                  <a:alpha val="55000"/>
                </a:schemeClr>
              </a:solidFill>
            </a:endParaRPr>
          </a:p>
          <a:p>
            <a:pPr indent="-228600" algn="l">
              <a:buFont typeface="Arial" panose="020B0604020202020204" pitchFamily="34" charset="0"/>
              <a:buChar char="•"/>
            </a:pPr>
            <a:endParaRPr lang="en-US" sz="1700">
              <a:solidFill>
                <a:schemeClr val="tx1">
                  <a:alpha val="55000"/>
                </a:schemeClr>
              </a:solidFill>
            </a:endParaRPr>
          </a:p>
        </p:txBody>
      </p:sp>
    </p:spTree>
    <p:extLst>
      <p:ext uri="{BB962C8B-B14F-4D97-AF65-F5344CB8AC3E}">
        <p14:creationId xmlns:p14="http://schemas.microsoft.com/office/powerpoint/2010/main" val="3956535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9347F4-AA87-58C8-97D2-070F0D85B7F3}"/>
              </a:ext>
            </a:extLst>
          </p:cNvPr>
          <p:cNvSpPr>
            <a:spLocks noGrp="1"/>
          </p:cNvSpPr>
          <p:nvPr>
            <p:ph type="ctrTitle"/>
          </p:nvPr>
        </p:nvSpPr>
        <p:spPr>
          <a:xfrm>
            <a:off x="826396" y="586855"/>
            <a:ext cx="4230100"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Problem Statement</a:t>
            </a:r>
          </a:p>
        </p:txBody>
      </p:sp>
      <p:sp>
        <p:nvSpPr>
          <p:cNvPr id="3" name="Subtitle 2">
            <a:extLst>
              <a:ext uri="{FF2B5EF4-FFF2-40B4-BE49-F238E27FC236}">
                <a16:creationId xmlns:a16="http://schemas.microsoft.com/office/drawing/2014/main" id="{55011EA5-9DB8-3772-F1B7-C54A86C4A123}"/>
              </a:ext>
            </a:extLst>
          </p:cNvPr>
          <p:cNvSpPr>
            <a:spLocks noGrp="1"/>
          </p:cNvSpPr>
          <p:nvPr>
            <p:ph type="subTitle" idx="1"/>
          </p:nvPr>
        </p:nvSpPr>
        <p:spPr>
          <a:xfrm>
            <a:off x="6503158" y="649480"/>
            <a:ext cx="4862447" cy="5546047"/>
          </a:xfrm>
        </p:spPr>
        <p:txBody>
          <a:bodyPr vert="horz" lIns="91440" tIns="45720" rIns="91440" bIns="45720" rtlCol="0" anchor="ctr">
            <a:normAutofit/>
          </a:bodyPr>
          <a:lstStyle/>
          <a:p>
            <a:pPr algn="l"/>
            <a:r>
              <a:rPr lang="en-US" b="1"/>
              <a:t>Problem:</a:t>
            </a:r>
            <a:endParaRPr lang="en-US"/>
          </a:p>
          <a:p>
            <a:pPr marL="285750" indent="-285750" algn="l">
              <a:buFont typeface="Arial"/>
              <a:buChar char="•"/>
            </a:pPr>
            <a:r>
              <a:rPr lang="en-US" sz="2000">
                <a:ea typeface="+mn-lt"/>
                <a:cs typeface="+mn-lt"/>
              </a:rPr>
              <a:t>Go Auto needs to optimize marketing and inventory distribution using clustering of sales data by dealership postal codes in Edmonton.</a:t>
            </a:r>
            <a:endParaRPr lang="en-US">
              <a:ea typeface="+mn-lt"/>
              <a:cs typeface="+mn-lt"/>
            </a:endParaRPr>
          </a:p>
          <a:p>
            <a:pPr marL="285750" indent="-285750" algn="l">
              <a:buFont typeface="Arial"/>
              <a:buChar char="•"/>
            </a:pPr>
            <a:r>
              <a:rPr lang="en-US" sz="2000">
                <a:ea typeface="+mn-lt"/>
                <a:cs typeface="+mn-lt"/>
              </a:rPr>
              <a:t>Focus on clustering sales data to identify distinct regions of interest.</a:t>
            </a:r>
            <a:endParaRPr lang="en-US">
              <a:ea typeface="+mn-lt"/>
              <a:cs typeface="+mn-lt"/>
            </a:endParaRPr>
          </a:p>
          <a:p>
            <a:pPr algn="l"/>
            <a:r>
              <a:rPr lang="en-US" b="1"/>
              <a:t>Objective:</a:t>
            </a:r>
            <a:endParaRPr lang="en-US"/>
          </a:p>
          <a:p>
            <a:pPr marL="285750" indent="-285750" algn="l">
              <a:buFont typeface="Arial"/>
              <a:buChar char="•"/>
            </a:pPr>
            <a:r>
              <a:rPr lang="en-US" sz="2000">
                <a:ea typeface="+mn-lt"/>
                <a:cs typeface="+mn-lt"/>
              </a:rPr>
              <a:t>Apply machine learning clustering techniques to segment regions.</a:t>
            </a:r>
            <a:endParaRPr lang="en-US">
              <a:ea typeface="+mn-lt"/>
              <a:cs typeface="+mn-lt"/>
            </a:endParaRPr>
          </a:p>
          <a:p>
            <a:pPr marL="285750" indent="-285750" algn="l">
              <a:buFont typeface="Arial"/>
              <a:buChar char="•"/>
            </a:pPr>
            <a:r>
              <a:rPr lang="en-US" sz="2000">
                <a:ea typeface="+mn-lt"/>
                <a:cs typeface="+mn-lt"/>
              </a:rPr>
              <a:t>Optimize Go Auto’s operations based on the clustering insights.</a:t>
            </a:r>
            <a:endParaRPr lang="en-US">
              <a:ea typeface="+mn-lt"/>
              <a:cs typeface="+mn-lt"/>
            </a:endParaRPr>
          </a:p>
          <a:p>
            <a:pPr algn="l"/>
            <a:endParaRPr lang="en-US" sz="2000" b="1"/>
          </a:p>
        </p:txBody>
      </p:sp>
      <p:pic>
        <p:nvPicPr>
          <p:cNvPr id="7" name="Graphic 6" descr="Head with Gears">
            <a:extLst>
              <a:ext uri="{FF2B5EF4-FFF2-40B4-BE49-F238E27FC236}">
                <a16:creationId xmlns:a16="http://schemas.microsoft.com/office/drawing/2014/main" id="{CBCCB8CC-2D84-0FDA-7457-4464684BEB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spTree>
    <p:extLst>
      <p:ext uri="{BB962C8B-B14F-4D97-AF65-F5344CB8AC3E}">
        <p14:creationId xmlns:p14="http://schemas.microsoft.com/office/powerpoint/2010/main" val="939989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9EE307-B54B-579C-9087-A443315220E6}"/>
              </a:ext>
            </a:extLst>
          </p:cNvPr>
          <p:cNvSpPr>
            <a:spLocks noGrp="1"/>
          </p:cNvSpPr>
          <p:nvPr>
            <p:ph type="ctrTitle"/>
          </p:nvPr>
        </p:nvSpPr>
        <p:spPr>
          <a:xfrm>
            <a:off x="411480" y="991443"/>
            <a:ext cx="4443154" cy="1087819"/>
          </a:xfrm>
        </p:spPr>
        <p:txBody>
          <a:bodyPr vert="horz" lIns="91440" tIns="45720" rIns="91440" bIns="45720" rtlCol="0" anchor="b">
            <a:normAutofit/>
          </a:bodyPr>
          <a:lstStyle/>
          <a:p>
            <a:pPr algn="l"/>
            <a:r>
              <a:rPr lang="en-US" sz="2400" b="1" kern="1200" dirty="0">
                <a:solidFill>
                  <a:schemeClr val="tx1"/>
                </a:solidFill>
                <a:latin typeface="+mj-lt"/>
                <a:ea typeface="+mj-ea"/>
                <a:cs typeface="+mj-cs"/>
              </a:rPr>
              <a:t>Development and Implementation of the ML Model</a:t>
            </a:r>
            <a:endParaRPr lang="en-US" sz="2400" kern="1200" dirty="0">
              <a:solidFill>
                <a:schemeClr val="tx1"/>
              </a:solidFill>
              <a:latin typeface="+mj-lt"/>
              <a:ea typeface="+mj-ea"/>
              <a:cs typeface="+mj-cs"/>
            </a:endParaRPr>
          </a:p>
        </p:txBody>
      </p:sp>
      <p:sp>
        <p:nvSpPr>
          <p:cNvPr id="19" name="Rectangle 18">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ubtitle 2">
            <a:extLst>
              <a:ext uri="{FF2B5EF4-FFF2-40B4-BE49-F238E27FC236}">
                <a16:creationId xmlns:a16="http://schemas.microsoft.com/office/drawing/2014/main" id="{EDEAC043-47A7-AB46-8520-9B6EC74BDB04}"/>
              </a:ext>
            </a:extLst>
          </p:cNvPr>
          <p:cNvSpPr>
            <a:spLocks noGrp="1"/>
          </p:cNvSpPr>
          <p:nvPr>
            <p:ph type="subTitle" idx="1"/>
          </p:nvPr>
        </p:nvSpPr>
        <p:spPr>
          <a:xfrm>
            <a:off x="365761" y="2510108"/>
            <a:ext cx="7398014" cy="4640500"/>
          </a:xfrm>
        </p:spPr>
        <p:txBody>
          <a:bodyPr vert="horz" lIns="91440" tIns="45720" rIns="91440" bIns="45720" rtlCol="0" anchor="t">
            <a:normAutofit fontScale="55000" lnSpcReduction="20000"/>
          </a:bodyPr>
          <a:lstStyle/>
          <a:p>
            <a:pPr indent="-228600" algn="l">
              <a:buFont typeface="Arial" panose="020B0604020202020204" pitchFamily="34" charset="0"/>
              <a:buChar char="•"/>
            </a:pPr>
            <a:r>
              <a:rPr lang="en-US" sz="3800" b="1"/>
              <a:t>Model Used:</a:t>
            </a:r>
          </a:p>
          <a:p>
            <a:pPr marL="742950" lvl="1" indent="-228600" algn="l">
              <a:buFont typeface="Arial" panose="020B0604020202020204" pitchFamily="34" charset="0"/>
              <a:buChar char="•"/>
            </a:pPr>
            <a:r>
              <a:rPr lang="en-US" sz="3800" dirty="0" err="1"/>
              <a:t>KMeans</a:t>
            </a:r>
            <a:endParaRPr lang="en-US" sz="3800" dirty="0"/>
          </a:p>
          <a:p>
            <a:pPr marL="742950" lvl="1" indent="-228600" algn="l">
              <a:buFont typeface="Arial" panose="020B0604020202020204" pitchFamily="34" charset="0"/>
              <a:buChar char="•"/>
            </a:pPr>
            <a:r>
              <a:rPr lang="en-US" sz="3800" b="1" err="1">
                <a:ea typeface="+mn-lt"/>
                <a:cs typeface="+mn-lt"/>
              </a:rPr>
              <a:t>KMeans</a:t>
            </a:r>
            <a:r>
              <a:rPr lang="en-US" sz="3800" b="1">
                <a:ea typeface="+mn-lt"/>
                <a:cs typeface="+mn-lt"/>
              </a:rPr>
              <a:t> Clustering</a:t>
            </a:r>
            <a:r>
              <a:rPr lang="en-US" sz="3800">
                <a:ea typeface="+mn-lt"/>
                <a:cs typeface="+mn-lt"/>
              </a:rPr>
              <a:t>:</a:t>
            </a:r>
            <a:br>
              <a:rPr lang="en-US" sz="3800">
                <a:ea typeface="+mn-lt"/>
                <a:cs typeface="+mn-lt"/>
              </a:rPr>
            </a:br>
            <a:r>
              <a:rPr lang="en-US" sz="3800">
                <a:ea typeface="+mn-lt"/>
                <a:cs typeface="+mn-lt"/>
              </a:rPr>
              <a:t> </a:t>
            </a:r>
            <a:r>
              <a:rPr lang="en-US" sz="3800" err="1">
                <a:ea typeface="+mn-lt"/>
                <a:cs typeface="+mn-lt"/>
              </a:rPr>
              <a:t>KMeans</a:t>
            </a:r>
            <a:r>
              <a:rPr lang="en-US" sz="3800">
                <a:ea typeface="+mn-lt"/>
                <a:cs typeface="+mn-lt"/>
              </a:rPr>
              <a:t> is a popular clustering algorithm that groups data into k distinct clusters. This algorithm is well-suited for geographical data as it can identify natural groupings of dealerships</a:t>
            </a:r>
            <a:endParaRPr lang="en-US" sz="3800"/>
          </a:p>
          <a:p>
            <a:pPr indent="-228600" algn="l">
              <a:buFont typeface="Arial" panose="020B0604020202020204" pitchFamily="34" charset="0"/>
              <a:buChar char="•"/>
            </a:pPr>
            <a:r>
              <a:rPr lang="en-US" sz="3800" b="1"/>
              <a:t>Preprocessing:</a:t>
            </a:r>
          </a:p>
          <a:p>
            <a:pPr marL="742950" lvl="1" indent="-228600" algn="l">
              <a:buFont typeface="Arial" panose="020B0604020202020204" pitchFamily="34" charset="0"/>
              <a:buChar char="•"/>
            </a:pPr>
            <a:r>
              <a:rPr lang="en-US" sz="3800" dirty="0"/>
              <a:t>Standardized numerical features using </a:t>
            </a:r>
            <a:r>
              <a:rPr lang="en-US" sz="3800" dirty="0" err="1"/>
              <a:t>StandardScaler</a:t>
            </a:r>
            <a:r>
              <a:rPr lang="en-US" sz="3800" dirty="0"/>
              <a:t>.</a:t>
            </a:r>
          </a:p>
          <a:p>
            <a:pPr marL="742950" lvl="1" indent="-228600" algn="l">
              <a:buFont typeface="Arial" panose="020B0604020202020204" pitchFamily="34" charset="0"/>
              <a:buChar char="•"/>
            </a:pPr>
            <a:r>
              <a:rPr lang="en-US" sz="3800" dirty="0"/>
              <a:t>Encoded categorical variables using </a:t>
            </a:r>
            <a:r>
              <a:rPr lang="en-US" sz="3800" dirty="0" err="1"/>
              <a:t>LabelEncoder</a:t>
            </a:r>
            <a:r>
              <a:rPr lang="en-US" sz="3800" dirty="0"/>
              <a:t>.</a:t>
            </a:r>
            <a:endParaRPr lang="en-US" sz="3800" dirty="0">
              <a:ea typeface="+mn-lt"/>
              <a:cs typeface="+mn-lt"/>
            </a:endParaRPr>
          </a:p>
          <a:p>
            <a:pPr marL="742950" lvl="1" indent="-228600" algn="l">
              <a:buFont typeface="Arial" panose="020B0604020202020204" pitchFamily="34" charset="0"/>
              <a:buChar char="•"/>
            </a:pPr>
            <a:r>
              <a:rPr lang="en-US" sz="3800" b="1" dirty="0">
                <a:ea typeface="+mn-lt"/>
                <a:cs typeface="+mn-lt"/>
              </a:rPr>
              <a:t>Feature Selection</a:t>
            </a:r>
            <a:r>
              <a:rPr lang="en-US" sz="3800" dirty="0">
                <a:ea typeface="+mn-lt"/>
                <a:cs typeface="+mn-lt"/>
              </a:rPr>
              <a:t>: Focus on location, sales, and dealership data.</a:t>
            </a:r>
            <a:endParaRPr lang="en-US" sz="3800" dirty="0"/>
          </a:p>
          <a:p>
            <a:pPr indent="-228600" algn="l">
              <a:buFont typeface="Arial" panose="020B0604020202020204" pitchFamily="34" charset="0"/>
              <a:buChar char="•"/>
            </a:pPr>
            <a:r>
              <a:rPr lang="en-US" sz="3800" b="1"/>
              <a:t>Clustering:</a:t>
            </a:r>
          </a:p>
          <a:p>
            <a:pPr marL="742950" lvl="1" indent="-228600" algn="l">
              <a:buFont typeface="Arial" panose="020B0604020202020204" pitchFamily="34" charset="0"/>
              <a:buChar char="•"/>
            </a:pPr>
            <a:r>
              <a:rPr lang="en-US" sz="3800" dirty="0"/>
              <a:t>Determined optimal cluster count using the Elbow Method.</a:t>
            </a:r>
          </a:p>
          <a:p>
            <a:pPr indent="-228600" algn="l">
              <a:buFont typeface="Arial" panose="020B0604020202020204" pitchFamily="34" charset="0"/>
              <a:buChar char="•"/>
            </a:pPr>
            <a:endParaRPr lang="en-US" sz="1300" dirty="0"/>
          </a:p>
        </p:txBody>
      </p:sp>
      <p:pic>
        <p:nvPicPr>
          <p:cNvPr id="7" name="Picture 6" descr="A screenshot of a computer&#10;&#10;AI-generated content may be incorrect.">
            <a:extLst>
              <a:ext uri="{FF2B5EF4-FFF2-40B4-BE49-F238E27FC236}">
                <a16:creationId xmlns:a16="http://schemas.microsoft.com/office/drawing/2014/main" id="{EFF4B6A7-BF52-84BE-44F5-0D8A72C81AB9}"/>
              </a:ext>
            </a:extLst>
          </p:cNvPr>
          <p:cNvPicPr>
            <a:picLocks noChangeAspect="1"/>
          </p:cNvPicPr>
          <p:nvPr/>
        </p:nvPicPr>
        <p:blipFill>
          <a:blip r:embed="rId2">
            <a:extLst>
              <a:ext uri="{28A0092B-C50C-407E-A947-70E740481C1C}">
                <a14:useLocalDpi xmlns:a14="http://schemas.microsoft.com/office/drawing/2010/main" val="0"/>
              </a:ext>
            </a:extLst>
          </a:blip>
          <a:srcRect l="-2652" t="-70" r="2808" b="70"/>
          <a:stretch/>
        </p:blipFill>
        <p:spPr>
          <a:xfrm>
            <a:off x="5329288" y="508068"/>
            <a:ext cx="6172950" cy="1571196"/>
          </a:xfrm>
          <a:prstGeom prst="rect">
            <a:avLst/>
          </a:prstGeom>
        </p:spPr>
      </p:pic>
    </p:spTree>
    <p:extLst>
      <p:ext uri="{BB962C8B-B14F-4D97-AF65-F5344CB8AC3E}">
        <p14:creationId xmlns:p14="http://schemas.microsoft.com/office/powerpoint/2010/main" val="4127210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09496E-73D7-B0E4-A47C-ACF85D355914}"/>
              </a:ext>
            </a:extLst>
          </p:cNvPr>
          <p:cNvSpPr>
            <a:spLocks noGrp="1"/>
          </p:cNvSpPr>
          <p:nvPr>
            <p:ph type="ctrTitle"/>
          </p:nvPr>
        </p:nvSpPr>
        <p:spPr>
          <a:xfrm>
            <a:off x="630936" y="639520"/>
            <a:ext cx="4389638" cy="1294156"/>
          </a:xfrm>
        </p:spPr>
        <p:txBody>
          <a:bodyPr vert="horz" lIns="91440" tIns="45720" rIns="91440" bIns="45720" rtlCol="0" anchor="b">
            <a:normAutofit fontScale="90000"/>
          </a:bodyPr>
          <a:lstStyle/>
          <a:p>
            <a:pPr algn="l"/>
            <a:r>
              <a:rPr lang="en-US" sz="3800" b="1" kern="1200" dirty="0">
                <a:solidFill>
                  <a:schemeClr val="tx1"/>
                </a:solidFill>
                <a:latin typeface="+mj-lt"/>
                <a:ea typeface="+mj-ea"/>
                <a:cs typeface="+mj-cs"/>
              </a:rPr>
              <a:t>Principal Component Analysis (PCA)</a:t>
            </a:r>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787F3B79-71DF-0B9D-6CA9-0EC0BF4FFB27}"/>
              </a:ext>
            </a:extLst>
          </p:cNvPr>
          <p:cNvSpPr>
            <a:spLocks noGrp="1"/>
          </p:cNvSpPr>
          <p:nvPr>
            <p:ph type="subTitle" idx="1"/>
          </p:nvPr>
        </p:nvSpPr>
        <p:spPr>
          <a:xfrm>
            <a:off x="630936" y="2807208"/>
            <a:ext cx="5243552" cy="3410712"/>
          </a:xfrm>
        </p:spPr>
        <p:txBody>
          <a:bodyPr vert="horz" lIns="91440" tIns="45720" rIns="91440" bIns="45720" rtlCol="0" anchor="t">
            <a:normAutofit/>
          </a:bodyPr>
          <a:lstStyle/>
          <a:p>
            <a:pPr indent="-228600" algn="l">
              <a:buFont typeface="Arial" panose="020B0604020202020204" pitchFamily="34" charset="0"/>
              <a:buChar char="•"/>
            </a:pPr>
            <a:r>
              <a:rPr lang="en-US" sz="2000" dirty="0"/>
              <a:t>Applied </a:t>
            </a:r>
            <a:r>
              <a:rPr lang="en-US" sz="2000" b="1" dirty="0"/>
              <a:t>PCA</a:t>
            </a:r>
            <a:r>
              <a:rPr lang="en-US" sz="2000" dirty="0"/>
              <a:t> to reduce dimensionality from </a:t>
            </a:r>
            <a:r>
              <a:rPr lang="en-US" sz="2000" b="1" dirty="0"/>
              <a:t>6 features to 2 principal components</a:t>
            </a:r>
            <a:r>
              <a:rPr lang="en-US" sz="2000" dirty="0"/>
              <a:t>.</a:t>
            </a:r>
            <a:br>
              <a:rPr lang="en-US" sz="2000" dirty="0"/>
            </a:br>
            <a:r>
              <a:rPr lang="en-US" sz="2000" dirty="0"/>
              <a:t>PCA retained </a:t>
            </a:r>
            <a:r>
              <a:rPr lang="en-US" sz="2000" b="1" dirty="0"/>
              <a:t>over 90% of the variance</a:t>
            </a:r>
            <a:r>
              <a:rPr lang="en-US" sz="2000" dirty="0"/>
              <a:t>, improving clustering efficiency and model performance.</a:t>
            </a:r>
            <a:br>
              <a:rPr lang="en-US" sz="2000" dirty="0"/>
            </a:br>
            <a:r>
              <a:rPr lang="en-US" sz="2000" dirty="0"/>
              <a:t>PCA helped to:</a:t>
            </a:r>
          </a:p>
          <a:p>
            <a:pPr indent="-228600" algn="l">
              <a:buFont typeface="Arial" panose="020B0604020202020204" pitchFamily="34" charset="0"/>
              <a:buChar char="•"/>
            </a:pPr>
            <a:r>
              <a:rPr lang="en-US" sz="2000" dirty="0"/>
              <a:t>Remove noise and reduce redundancy.</a:t>
            </a:r>
          </a:p>
          <a:p>
            <a:pPr indent="-228600" algn="l">
              <a:buFont typeface="Arial" panose="020B0604020202020204" pitchFamily="34" charset="0"/>
              <a:buChar char="•"/>
            </a:pPr>
            <a:r>
              <a:rPr lang="en-US" sz="2000" dirty="0"/>
              <a:t>Improve cluster separation and accuracy.</a:t>
            </a:r>
          </a:p>
          <a:p>
            <a:pPr indent="-228600" algn="l">
              <a:buFont typeface="Arial" panose="020B0604020202020204" pitchFamily="34" charset="0"/>
              <a:buChar char="•"/>
            </a:pPr>
            <a:r>
              <a:rPr lang="en-US" sz="2000" dirty="0"/>
              <a:t>Reduce model training time and complexity.</a:t>
            </a:r>
          </a:p>
          <a:p>
            <a:pPr indent="-228600" algn="l">
              <a:buFont typeface="Arial" panose="020B0604020202020204" pitchFamily="34" charset="0"/>
              <a:buChar char="•"/>
            </a:pPr>
            <a:endParaRPr lang="en-US" sz="1500" dirty="0"/>
          </a:p>
        </p:txBody>
      </p:sp>
      <p:pic>
        <p:nvPicPr>
          <p:cNvPr id="4" name="Picture 3" descr="A graph of a graph with a line&#10;&#10;AI-generated content may be incorrect.">
            <a:extLst>
              <a:ext uri="{FF2B5EF4-FFF2-40B4-BE49-F238E27FC236}">
                <a16:creationId xmlns:a16="http://schemas.microsoft.com/office/drawing/2014/main" id="{C8CCF28E-29F8-8E2E-BE5D-57DB54A971B6}"/>
              </a:ext>
            </a:extLst>
          </p:cNvPr>
          <p:cNvPicPr>
            <a:picLocks noChangeAspect="1"/>
          </p:cNvPicPr>
          <p:nvPr/>
        </p:nvPicPr>
        <p:blipFill>
          <a:blip r:embed="rId2"/>
          <a:stretch>
            <a:fillRect/>
          </a:stretch>
        </p:blipFill>
        <p:spPr>
          <a:xfrm>
            <a:off x="5874488" y="1590885"/>
            <a:ext cx="5683527" cy="3374136"/>
          </a:xfrm>
          <a:prstGeom prst="rect">
            <a:avLst/>
          </a:prstGeom>
        </p:spPr>
      </p:pic>
    </p:spTree>
    <p:extLst>
      <p:ext uri="{BB962C8B-B14F-4D97-AF65-F5344CB8AC3E}">
        <p14:creationId xmlns:p14="http://schemas.microsoft.com/office/powerpoint/2010/main" val="1685297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6191D19-FC20-C15A-5F2C-D5E4D9D7B512}"/>
              </a:ext>
            </a:extLst>
          </p:cNvPr>
          <p:cNvSpPr>
            <a:spLocks noGrp="1"/>
          </p:cNvSpPr>
          <p:nvPr>
            <p:ph type="ctrTitle"/>
          </p:nvPr>
        </p:nvSpPr>
        <p:spPr>
          <a:xfrm>
            <a:off x="838200" y="609600"/>
            <a:ext cx="3739341" cy="1330839"/>
          </a:xfrm>
        </p:spPr>
        <p:txBody>
          <a:bodyPr vert="horz" lIns="91440" tIns="45720" rIns="91440" bIns="45720" rtlCol="0" anchor="ctr">
            <a:normAutofit/>
          </a:bodyPr>
          <a:lstStyle/>
          <a:p>
            <a:pPr algn="l"/>
            <a:r>
              <a:rPr lang="en-US" sz="4100" kern="1200">
                <a:solidFill>
                  <a:schemeClr val="tx1"/>
                </a:solidFill>
                <a:latin typeface="+mj-lt"/>
                <a:ea typeface="+mj-ea"/>
                <a:cs typeface="+mj-cs"/>
              </a:rPr>
              <a:t>Optimal Cluster Selection</a:t>
            </a:r>
          </a:p>
        </p:txBody>
      </p:sp>
      <p:sp>
        <p:nvSpPr>
          <p:cNvPr id="3" name="Subtitle 2">
            <a:extLst>
              <a:ext uri="{FF2B5EF4-FFF2-40B4-BE49-F238E27FC236}">
                <a16:creationId xmlns:a16="http://schemas.microsoft.com/office/drawing/2014/main" id="{E274CA07-8402-1E9B-A6F8-D6D6273FD346}"/>
              </a:ext>
            </a:extLst>
          </p:cNvPr>
          <p:cNvSpPr>
            <a:spLocks noGrp="1"/>
          </p:cNvSpPr>
          <p:nvPr>
            <p:ph type="subTitle" idx="1"/>
          </p:nvPr>
        </p:nvSpPr>
        <p:spPr>
          <a:xfrm>
            <a:off x="862366" y="2194102"/>
            <a:ext cx="4493392" cy="3908586"/>
          </a:xfrm>
        </p:spPr>
        <p:txBody>
          <a:bodyPr vert="horz" lIns="91440" tIns="45720" rIns="91440" bIns="45720" rtlCol="0">
            <a:normAutofit fontScale="92500" lnSpcReduction="10000"/>
          </a:bodyPr>
          <a:lstStyle/>
          <a:p>
            <a:pPr indent="-228600" algn="l">
              <a:buFont typeface="Arial" panose="020B0604020202020204" pitchFamily="34" charset="0"/>
              <a:buChar char="•"/>
            </a:pPr>
            <a:r>
              <a:rPr lang="en-US" b="1" dirty="0"/>
              <a:t>Elbow Visualizer</a:t>
            </a:r>
            <a:r>
              <a:rPr lang="en-US" dirty="0"/>
              <a:t>:</a:t>
            </a:r>
            <a:br>
              <a:rPr lang="en-US" dirty="0"/>
            </a:br>
            <a:r>
              <a:rPr lang="en-US" dirty="0"/>
              <a:t> The elbow method is used to determine the optimal number of clusters by analyzing the inertia (within-cluster sum of squares) for different values of k. The "elbow" point on the plot corresponds to the optimal k, which minimizes inertia without overfitting the model.</a:t>
            </a:r>
          </a:p>
          <a:p>
            <a:pPr marL="285750" indent="-228600" algn="l">
              <a:buFont typeface="Arial" panose="020B0604020202020204" pitchFamily="34" charset="0"/>
              <a:buChar char="•"/>
            </a:pPr>
            <a:r>
              <a:rPr lang="en-US" dirty="0"/>
              <a:t>elbow plot showing how inertia decreases as the number of clusters increases, with the "elbow" at k=9.</a:t>
            </a:r>
          </a:p>
          <a:p>
            <a:pPr indent="-228600" algn="l">
              <a:buFont typeface="Arial" panose="020B0604020202020204" pitchFamily="34" charset="0"/>
              <a:buChar char="•"/>
            </a:pPr>
            <a:endParaRPr lang="en-US" sz="1700" dirty="0"/>
          </a:p>
        </p:txBody>
      </p:sp>
      <p:pic>
        <p:nvPicPr>
          <p:cNvPr id="5" name="Picture 4" descr="A graph with blue and green lines&#10;&#10;AI-generated content may be incorrect.">
            <a:extLst>
              <a:ext uri="{FF2B5EF4-FFF2-40B4-BE49-F238E27FC236}">
                <a16:creationId xmlns:a16="http://schemas.microsoft.com/office/drawing/2014/main" id="{BA84BAF0-4887-9FBD-C558-7DA3F74FB4DC}"/>
              </a:ext>
            </a:extLst>
          </p:cNvPr>
          <p:cNvPicPr>
            <a:picLocks noChangeAspect="1"/>
          </p:cNvPicPr>
          <p:nvPr/>
        </p:nvPicPr>
        <p:blipFill>
          <a:blip r:embed="rId2"/>
          <a:stretch>
            <a:fillRect/>
          </a:stretch>
        </p:blipFill>
        <p:spPr>
          <a:xfrm>
            <a:off x="5947160" y="1540471"/>
            <a:ext cx="5653438" cy="3490997"/>
          </a:xfrm>
          <a:prstGeom prst="rect">
            <a:avLst/>
          </a:prstGeom>
        </p:spPr>
      </p:pic>
    </p:spTree>
    <p:extLst>
      <p:ext uri="{BB962C8B-B14F-4D97-AF65-F5344CB8AC3E}">
        <p14:creationId xmlns:p14="http://schemas.microsoft.com/office/powerpoint/2010/main" val="3791259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2" name="Rectangle 51">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4" name="Rectangle 53">
            <a:extLst>
              <a:ext uri="{FF2B5EF4-FFF2-40B4-BE49-F238E27FC236}">
                <a16:creationId xmlns:a16="http://schemas.microsoft.com/office/drawing/2014/main" id="{1426356D-10CD-483F-9267-2ABFF6185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35D98B-4AD9-8BAD-1054-01D8042E7BC5}"/>
              </a:ext>
            </a:extLst>
          </p:cNvPr>
          <p:cNvSpPr>
            <a:spLocks noGrp="1"/>
          </p:cNvSpPr>
          <p:nvPr>
            <p:ph type="ctrTitle"/>
          </p:nvPr>
        </p:nvSpPr>
        <p:spPr>
          <a:xfrm>
            <a:off x="422898" y="737481"/>
            <a:ext cx="4131849" cy="1531670"/>
          </a:xfrm>
        </p:spPr>
        <p:txBody>
          <a:bodyPr vert="horz" lIns="91440" tIns="45720" rIns="91440" bIns="45720" rtlCol="0" anchor="ctr">
            <a:normAutofit/>
          </a:bodyPr>
          <a:lstStyle/>
          <a:p>
            <a:pPr algn="l"/>
            <a:r>
              <a:rPr lang="en-US" sz="4800" kern="1200" dirty="0">
                <a:latin typeface="+mj-lt"/>
                <a:ea typeface="+mj-ea"/>
                <a:cs typeface="+mj-cs"/>
              </a:rPr>
              <a:t>K Means </a:t>
            </a:r>
            <a:r>
              <a:rPr lang="en-US" sz="4800" kern="1200" dirty="0" err="1">
                <a:latin typeface="+mj-lt"/>
                <a:ea typeface="+mj-ea"/>
                <a:cs typeface="+mj-cs"/>
              </a:rPr>
              <a:t>clusterring</a:t>
            </a:r>
            <a:endParaRPr lang="en-US" sz="4800" kern="1200" dirty="0">
              <a:latin typeface="+mj-lt"/>
              <a:ea typeface="+mj-ea"/>
              <a:cs typeface="+mj-cs"/>
            </a:endParaRPr>
          </a:p>
        </p:txBody>
      </p:sp>
      <p:sp>
        <p:nvSpPr>
          <p:cNvPr id="3" name="Subtitle 2">
            <a:extLst>
              <a:ext uri="{FF2B5EF4-FFF2-40B4-BE49-F238E27FC236}">
                <a16:creationId xmlns:a16="http://schemas.microsoft.com/office/drawing/2014/main" id="{A1A1EC77-A46A-2338-B61D-AC477666B263}"/>
              </a:ext>
            </a:extLst>
          </p:cNvPr>
          <p:cNvSpPr>
            <a:spLocks noGrp="1"/>
          </p:cNvSpPr>
          <p:nvPr>
            <p:ph type="subTitle" idx="1"/>
          </p:nvPr>
        </p:nvSpPr>
        <p:spPr>
          <a:xfrm>
            <a:off x="3950898" y="897147"/>
            <a:ext cx="7763742" cy="2225305"/>
          </a:xfrm>
        </p:spPr>
        <p:txBody>
          <a:bodyPr vert="horz" lIns="91440" tIns="45720" rIns="91440" bIns="45720" rtlCol="0" anchor="ctr">
            <a:normAutofit/>
          </a:bodyPr>
          <a:lstStyle/>
          <a:p>
            <a:pPr marL="285750" indent="-228600" algn="l">
              <a:buFont typeface="Arial" panose="020B0604020202020204" pitchFamily="34" charset="0"/>
              <a:buChar char="•"/>
            </a:pPr>
            <a:r>
              <a:rPr lang="en-US" sz="1600" b="1" dirty="0" err="1"/>
              <a:t>KMeans</a:t>
            </a:r>
            <a:r>
              <a:rPr lang="en-US" sz="1600" b="1" dirty="0"/>
              <a:t> Implementation</a:t>
            </a:r>
            <a:r>
              <a:rPr lang="en-US" sz="1600" dirty="0"/>
              <a:t>:</a:t>
            </a:r>
            <a:br>
              <a:rPr lang="en-US" sz="1600" dirty="0"/>
            </a:br>
            <a:r>
              <a:rPr lang="en-US" sz="1600" dirty="0"/>
              <a:t> Once the optimal number of clusters is determined (k=9), the </a:t>
            </a:r>
            <a:r>
              <a:rPr lang="en-US" sz="1600" dirty="0" err="1"/>
              <a:t>KMeans</a:t>
            </a:r>
            <a:r>
              <a:rPr lang="en-US" sz="1600" dirty="0"/>
              <a:t> algorithm is used to group the data into these 9 clusters.</a:t>
            </a:r>
          </a:p>
          <a:p>
            <a:pPr marL="285750" indent="-228600" algn="l">
              <a:buFont typeface="Arial" panose="020B0604020202020204" pitchFamily="34" charset="0"/>
              <a:buChar char="•"/>
            </a:pPr>
            <a:r>
              <a:rPr lang="en-US" sz="1600" b="1" dirty="0"/>
              <a:t>Cluster Labeling</a:t>
            </a:r>
            <a:r>
              <a:rPr lang="en-US" sz="1600"/>
              <a:t>:</a:t>
            </a:r>
            <a:r>
              <a:rPr lang="en-US" sz="1600" dirty="0"/>
              <a:t>Each data point is assigned a cluster label, indicating which group it belongs to.</a:t>
            </a:r>
            <a:br>
              <a:rPr lang="en-US" sz="1600" dirty="0"/>
            </a:br>
            <a:r>
              <a:rPr lang="en-US" sz="1600" dirty="0"/>
              <a:t> </a:t>
            </a:r>
            <a:r>
              <a:rPr lang="en-US" sz="1600" b="1" dirty="0"/>
              <a:t>Show a scatter plot or another visual representation of how the data points are grouped into 9 clusters based on their features.</a:t>
            </a:r>
            <a:endParaRPr lang="en-US"/>
          </a:p>
          <a:p>
            <a:pPr indent="-228600" algn="l">
              <a:buFont typeface="Arial" panose="020B0604020202020204" pitchFamily="34" charset="0"/>
              <a:buChar char="•"/>
            </a:pPr>
            <a:endParaRPr lang="en-US" sz="1200" dirty="0"/>
          </a:p>
        </p:txBody>
      </p:sp>
      <p:sp>
        <p:nvSpPr>
          <p:cNvPr id="56" name="Rectangle 55">
            <a:extLst>
              <a:ext uri="{FF2B5EF4-FFF2-40B4-BE49-F238E27FC236}">
                <a16:creationId xmlns:a16="http://schemas.microsoft.com/office/drawing/2014/main" id="{504B4E86-D05E-4842-8242-C0222A120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3258980"/>
            <a:ext cx="462914" cy="3599020"/>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cxnSp>
        <p:nvCxnSpPr>
          <p:cNvPr id="58" name="Straight Connector 57">
            <a:extLst>
              <a:ext uri="{FF2B5EF4-FFF2-40B4-BE49-F238E27FC236}">
                <a16:creationId xmlns:a16="http://schemas.microsoft.com/office/drawing/2014/main" id="{EE9C6408-AA0E-411D-A5D2-E5F13306F8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D9C04A9-04B4-4ED7-94E7-B13134C8D0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71086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pic>
        <p:nvPicPr>
          <p:cNvPr id="4" name="Picture 3" descr="A graph with colored dots">
            <a:extLst>
              <a:ext uri="{FF2B5EF4-FFF2-40B4-BE49-F238E27FC236}">
                <a16:creationId xmlns:a16="http://schemas.microsoft.com/office/drawing/2014/main" id="{5554F260-8AD6-6B95-83B7-D25639514F37}"/>
              </a:ext>
            </a:extLst>
          </p:cNvPr>
          <p:cNvPicPr>
            <a:picLocks noChangeAspect="1"/>
          </p:cNvPicPr>
          <p:nvPr/>
        </p:nvPicPr>
        <p:blipFill>
          <a:blip r:embed="rId2"/>
          <a:srcRect t="10547" r="2" b="2339"/>
          <a:stretch/>
        </p:blipFill>
        <p:spPr>
          <a:xfrm>
            <a:off x="477360" y="2993936"/>
            <a:ext cx="10943821" cy="3599021"/>
          </a:xfrm>
          <a:prstGeom prst="rect">
            <a:avLst/>
          </a:prstGeom>
        </p:spPr>
      </p:pic>
    </p:spTree>
    <p:extLst>
      <p:ext uri="{BB962C8B-B14F-4D97-AF65-F5344CB8AC3E}">
        <p14:creationId xmlns:p14="http://schemas.microsoft.com/office/powerpoint/2010/main" val="3214451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E4556D3F-F9E0-4DD4-A96F-6A8297B924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60" name="Color">
              <a:extLst>
                <a:ext uri="{FF2B5EF4-FFF2-40B4-BE49-F238E27FC236}">
                  <a16:creationId xmlns:a16="http://schemas.microsoft.com/office/drawing/2014/main" id="{86D4FF5D-6473-4BE3-A6EC-40CE25027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Color">
              <a:extLst>
                <a:ext uri="{FF2B5EF4-FFF2-40B4-BE49-F238E27FC236}">
                  <a16:creationId xmlns:a16="http://schemas.microsoft.com/office/drawing/2014/main" id="{993888FB-861F-4B4A-819C-BEB6D558A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screenshot of a computer screen&#10;&#10;AI-generated content may be incorrect.">
            <a:extLst>
              <a:ext uri="{FF2B5EF4-FFF2-40B4-BE49-F238E27FC236}">
                <a16:creationId xmlns:a16="http://schemas.microsoft.com/office/drawing/2014/main" id="{479F382C-C533-EF44-21BB-88C77A462421}"/>
              </a:ext>
            </a:extLst>
          </p:cNvPr>
          <p:cNvPicPr>
            <a:picLocks noChangeAspect="1"/>
          </p:cNvPicPr>
          <p:nvPr/>
        </p:nvPicPr>
        <p:blipFill>
          <a:blip r:embed="rId2">
            <a:extLst>
              <a:ext uri="{28A0092B-C50C-407E-A947-70E740481C1C}">
                <a14:useLocalDpi xmlns:a14="http://schemas.microsoft.com/office/drawing/2010/main" val="0"/>
              </a:ext>
            </a:extLst>
          </a:blip>
          <a:srcRect l="18655" r="33817" b="-1"/>
          <a:stretch/>
        </p:blipFill>
        <p:spPr>
          <a:xfrm>
            <a:off x="6803647" y="513103"/>
            <a:ext cx="5282387" cy="5279621"/>
          </a:xfrm>
          <a:prstGeom prst="rect">
            <a:avLst/>
          </a:prstGeom>
        </p:spPr>
      </p:pic>
      <p:grpSp>
        <p:nvGrpSpPr>
          <p:cNvPr id="63" name="Group 62">
            <a:extLst>
              <a:ext uri="{FF2B5EF4-FFF2-40B4-BE49-F238E27FC236}">
                <a16:creationId xmlns:a16="http://schemas.microsoft.com/office/drawing/2014/main" id="{65EABBED-2B80-4B13-A7A8-1D34C4A027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0" y="0"/>
            <a:chExt cx="12188952" cy="6858000"/>
          </a:xfrm>
        </p:grpSpPr>
        <p:sp>
          <p:nvSpPr>
            <p:cNvPr id="64" name="Freeform: Shape 63">
              <a:extLst>
                <a:ext uri="{FF2B5EF4-FFF2-40B4-BE49-F238E27FC236}">
                  <a16:creationId xmlns:a16="http://schemas.microsoft.com/office/drawing/2014/main" id="{73A7A746-A7C1-443C-9B24-406D22245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a:extLst>
                <a:ext uri="{FF2B5EF4-FFF2-40B4-BE49-F238E27FC236}">
                  <a16:creationId xmlns:a16="http://schemas.microsoft.com/office/drawing/2014/main" id="{1D71425D-6031-4121-BA40-815DACCD0E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a:extLst>
                <a:ext uri="{FF2B5EF4-FFF2-40B4-BE49-F238E27FC236}">
                  <a16:creationId xmlns:a16="http://schemas.microsoft.com/office/drawing/2014/main" id="{67A43343-A25B-49D5-9967-D5647ADF7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a16="http://schemas.microsoft.com/office/drawing/2014/main" id="{F066E434-22B6-48A1-BC19-A80163E819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Shape 67">
              <a:extLst>
                <a:ext uri="{FF2B5EF4-FFF2-40B4-BE49-F238E27FC236}">
                  <a16:creationId xmlns:a16="http://schemas.microsoft.com/office/drawing/2014/main" id="{35470CE2-E5F8-489C-84E9-775AE8D3E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a:extLst>
                <a:ext uri="{FF2B5EF4-FFF2-40B4-BE49-F238E27FC236}">
                  <a16:creationId xmlns:a16="http://schemas.microsoft.com/office/drawing/2014/main" id="{12435DD6-F0FB-492A-9267-CE09EC2C5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a:extLst>
                <a:ext uri="{FF2B5EF4-FFF2-40B4-BE49-F238E27FC236}">
                  <a16:creationId xmlns:a16="http://schemas.microsoft.com/office/drawing/2014/main" id="{5B17117C-64EA-4B8B-9DDC-D10E947C46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3D51280-5F4E-41B3-4B4D-C3A4B3C79451}"/>
              </a:ext>
            </a:extLst>
          </p:cNvPr>
          <p:cNvSpPr>
            <a:spLocks noGrp="1"/>
          </p:cNvSpPr>
          <p:nvPr>
            <p:ph type="ctrTitle"/>
          </p:nvPr>
        </p:nvSpPr>
        <p:spPr>
          <a:xfrm>
            <a:off x="789708" y="1014574"/>
            <a:ext cx="5633531" cy="2226769"/>
          </a:xfrm>
        </p:spPr>
        <p:txBody>
          <a:bodyPr anchor="ctr">
            <a:normAutofit/>
          </a:bodyPr>
          <a:lstStyle/>
          <a:p>
            <a:pPr algn="l"/>
            <a:r>
              <a:rPr lang="en-US" sz="4800">
                <a:solidFill>
                  <a:schemeClr val="bg1"/>
                </a:solidFill>
              </a:rPr>
              <a:t>Map</a:t>
            </a:r>
            <a:endParaRPr lang="en-CA" sz="4800">
              <a:solidFill>
                <a:schemeClr val="bg1"/>
              </a:solidFill>
            </a:endParaRPr>
          </a:p>
        </p:txBody>
      </p:sp>
      <p:sp>
        <p:nvSpPr>
          <p:cNvPr id="3" name="Subtitle 2">
            <a:extLst>
              <a:ext uri="{FF2B5EF4-FFF2-40B4-BE49-F238E27FC236}">
                <a16:creationId xmlns:a16="http://schemas.microsoft.com/office/drawing/2014/main" id="{D8642319-023E-7958-C438-9580C51C28EA}"/>
              </a:ext>
            </a:extLst>
          </p:cNvPr>
          <p:cNvSpPr>
            <a:spLocks noGrp="1"/>
          </p:cNvSpPr>
          <p:nvPr>
            <p:ph type="subTitle" idx="1"/>
          </p:nvPr>
        </p:nvSpPr>
        <p:spPr>
          <a:xfrm>
            <a:off x="173782" y="3502383"/>
            <a:ext cx="6389579" cy="3153736"/>
          </a:xfrm>
        </p:spPr>
        <p:txBody>
          <a:bodyPr vert="horz" lIns="91440" tIns="45720" rIns="91440" bIns="45720" rtlCol="0" anchor="t">
            <a:normAutofit/>
          </a:bodyPr>
          <a:lstStyle/>
          <a:p>
            <a:pPr algn="l"/>
            <a:r>
              <a:rPr lang="en-CA" sz="1800" dirty="0">
                <a:solidFill>
                  <a:schemeClr val="tx2"/>
                </a:solidFill>
              </a:rPr>
              <a:t>In this Map we visualized the insights from region, based on FSA code we divided regions, such as </a:t>
            </a:r>
            <a:r>
              <a:rPr lang="en-CA" sz="1800" dirty="0" err="1">
                <a:solidFill>
                  <a:schemeClr val="tx2"/>
                </a:solidFill>
              </a:rPr>
              <a:t>NorthEast</a:t>
            </a:r>
            <a:r>
              <a:rPr lang="en-CA" sz="1800" dirty="0">
                <a:solidFill>
                  <a:schemeClr val="tx2"/>
                </a:solidFill>
              </a:rPr>
              <a:t> Edmonton, North Edmonton, Central Edmonton, etc.</a:t>
            </a:r>
            <a:br>
              <a:rPr lang="en-CA" sz="1800" dirty="0">
                <a:solidFill>
                  <a:schemeClr val="tx2"/>
                </a:solidFill>
              </a:rPr>
            </a:br>
            <a:r>
              <a:rPr lang="en-CA" sz="1800" dirty="0">
                <a:solidFill>
                  <a:schemeClr val="tx2"/>
                </a:solidFill>
              </a:rPr>
              <a:t>From  map we can see that </a:t>
            </a:r>
            <a:r>
              <a:rPr lang="en-CA" sz="1800" dirty="0" err="1">
                <a:solidFill>
                  <a:schemeClr val="tx2"/>
                </a:solidFill>
              </a:rPr>
              <a:t>Clusteres</a:t>
            </a:r>
            <a:r>
              <a:rPr lang="en-CA" sz="1800" dirty="0">
                <a:solidFill>
                  <a:schemeClr val="tx2"/>
                </a:solidFill>
              </a:rPr>
              <a:t> are formed in which size represent number of vehicle  sold in that region and color represent number od dealership in that </a:t>
            </a:r>
            <a:r>
              <a:rPr lang="en-CA" sz="1800" dirty="0" err="1">
                <a:solidFill>
                  <a:schemeClr val="tx2"/>
                </a:solidFill>
              </a:rPr>
              <a:t>regionn</a:t>
            </a:r>
            <a:r>
              <a:rPr lang="en-CA" sz="1800" dirty="0">
                <a:solidFill>
                  <a:schemeClr val="tx2"/>
                </a:solidFill>
              </a:rPr>
              <a:t> .</a:t>
            </a:r>
            <a:br>
              <a:rPr lang="en-CA" sz="1800" dirty="0">
                <a:solidFill>
                  <a:schemeClr val="tx2"/>
                </a:solidFill>
              </a:rPr>
            </a:br>
            <a:r>
              <a:rPr lang="en-CA" sz="1800" dirty="0">
                <a:solidFill>
                  <a:schemeClr val="tx2"/>
                </a:solidFill>
              </a:rPr>
              <a:t>Here we can see that  in </a:t>
            </a:r>
            <a:r>
              <a:rPr lang="en-CA" sz="1800" dirty="0" err="1">
                <a:solidFill>
                  <a:schemeClr val="tx2"/>
                </a:solidFill>
              </a:rPr>
              <a:t>NorthEast</a:t>
            </a:r>
            <a:r>
              <a:rPr lang="en-CA" sz="1800" dirty="0">
                <a:solidFill>
                  <a:schemeClr val="tx2"/>
                </a:solidFill>
              </a:rPr>
              <a:t> Edmonton vehicle sold were 6682, with 20 dealership and Ford is the most sold brand with model F150, and top performing dealership in that region is </a:t>
            </a:r>
            <a:r>
              <a:rPr lang="en-CA" sz="1800" dirty="0" err="1">
                <a:solidFill>
                  <a:schemeClr val="tx2"/>
                </a:solidFill>
              </a:rPr>
              <a:t>NorthGate</a:t>
            </a:r>
            <a:r>
              <a:rPr lang="en-CA" sz="1800" dirty="0">
                <a:solidFill>
                  <a:schemeClr val="tx2"/>
                </a:solidFill>
              </a:rPr>
              <a:t> </a:t>
            </a:r>
            <a:r>
              <a:rPr lang="en-CA" sz="1800" dirty="0" err="1">
                <a:solidFill>
                  <a:schemeClr val="tx2"/>
                </a:solidFill>
              </a:rPr>
              <a:t>Cheverlot</a:t>
            </a:r>
            <a:r>
              <a:rPr lang="en-CA" sz="1800" dirty="0">
                <a:solidFill>
                  <a:schemeClr val="tx2"/>
                </a:solidFill>
              </a:rPr>
              <a:t> Buick , most sale is </a:t>
            </a:r>
            <a:r>
              <a:rPr lang="en-CA" sz="1800" dirty="0" err="1">
                <a:solidFill>
                  <a:schemeClr val="tx2"/>
                </a:solidFill>
              </a:rPr>
              <a:t>accounterd</a:t>
            </a:r>
            <a:r>
              <a:rPr lang="en-CA" sz="1800" dirty="0">
                <a:solidFill>
                  <a:schemeClr val="tx2"/>
                </a:solidFill>
              </a:rPr>
              <a:t> in July month, and various other insight you can observe from hovering data.</a:t>
            </a:r>
          </a:p>
        </p:txBody>
      </p:sp>
    </p:spTree>
    <p:extLst>
      <p:ext uri="{BB962C8B-B14F-4D97-AF65-F5344CB8AC3E}">
        <p14:creationId xmlns:p14="http://schemas.microsoft.com/office/powerpoint/2010/main" val="1311182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09F3BA-FD9D-BAF4-C8DF-ADD3639F35D1}"/>
              </a:ext>
            </a:extLst>
          </p:cNvPr>
          <p:cNvSpPr>
            <a:spLocks noGrp="1"/>
          </p:cNvSpPr>
          <p:nvPr>
            <p:ph type="title"/>
          </p:nvPr>
        </p:nvSpPr>
        <p:spPr>
          <a:xfrm>
            <a:off x="411480" y="987552"/>
            <a:ext cx="4485861" cy="1088136"/>
          </a:xfrm>
        </p:spPr>
        <p:txBody>
          <a:bodyPr anchor="b">
            <a:normAutofit/>
          </a:bodyPr>
          <a:lstStyle/>
          <a:p>
            <a:r>
              <a:rPr lang="en-US" sz="3400" dirty="0">
                <a:ea typeface="+mj-lt"/>
                <a:cs typeface="+mj-lt"/>
              </a:rPr>
              <a:t>Cluster Visualization</a:t>
            </a:r>
            <a:endParaRPr lang="en-US" sz="3400" dirty="0"/>
          </a:p>
        </p:txBody>
      </p:sp>
      <p:sp>
        <p:nvSpPr>
          <p:cNvPr id="16" name="Rectangle 15">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84B788A-DB6E-A034-85D7-9811C7653C0C}"/>
              </a:ext>
            </a:extLst>
          </p:cNvPr>
          <p:cNvSpPr>
            <a:spLocks noGrp="1"/>
          </p:cNvSpPr>
          <p:nvPr>
            <p:ph idx="1"/>
          </p:nvPr>
        </p:nvSpPr>
        <p:spPr>
          <a:xfrm>
            <a:off x="0" y="2606040"/>
            <a:ext cx="5308052" cy="4087022"/>
          </a:xfrm>
        </p:spPr>
        <p:txBody>
          <a:bodyPr vert="horz" lIns="91440" tIns="45720" rIns="91440" bIns="45720" rtlCol="0" anchor="t">
            <a:normAutofit/>
          </a:bodyPr>
          <a:lstStyle/>
          <a:p>
            <a:r>
              <a:rPr lang="en-US" sz="1800" b="1" dirty="0">
                <a:ea typeface="+mn-lt"/>
                <a:cs typeface="+mn-lt"/>
              </a:rPr>
              <a:t>Scatter Plot</a:t>
            </a:r>
            <a:r>
              <a:rPr lang="en-US" sz="1800" dirty="0">
                <a:ea typeface="+mn-lt"/>
                <a:cs typeface="+mn-lt"/>
              </a:rPr>
              <a:t>:</a:t>
            </a:r>
            <a:br>
              <a:rPr lang="en-US" sz="1800" dirty="0">
                <a:ea typeface="+mn-lt"/>
                <a:cs typeface="+mn-lt"/>
              </a:rPr>
            </a:br>
            <a:r>
              <a:rPr lang="en-US" sz="1800" dirty="0">
                <a:ea typeface="+mn-lt"/>
                <a:cs typeface="+mn-lt"/>
              </a:rPr>
              <a:t> A 2D scatter plot of </a:t>
            </a:r>
            <a:r>
              <a:rPr lang="en-US" sz="1800" dirty="0" err="1">
                <a:latin typeface="Consolas"/>
              </a:rPr>
              <a:t>FSA_Code</a:t>
            </a:r>
            <a:r>
              <a:rPr lang="en-US" sz="1800" dirty="0">
                <a:ea typeface="+mn-lt"/>
                <a:cs typeface="+mn-lt"/>
              </a:rPr>
              <a:t> vs </a:t>
            </a:r>
            <a:r>
              <a:rPr lang="en-US" sz="1800" dirty="0" err="1">
                <a:latin typeface="Consolas"/>
              </a:rPr>
              <a:t>Region_dealerships</a:t>
            </a:r>
            <a:r>
              <a:rPr lang="en-US" sz="1800" dirty="0">
                <a:ea typeface="+mn-lt"/>
                <a:cs typeface="+mn-lt"/>
              </a:rPr>
              <a:t> is used to visualize how the clusters are spread out. Color-coding the points by cluster helps highlight the different groups.</a:t>
            </a:r>
            <a:endParaRPr lang="en-US" sz="1800" dirty="0"/>
          </a:p>
          <a:p>
            <a:r>
              <a:rPr lang="en-US" sz="1800" b="1" dirty="0">
                <a:ea typeface="+mn-lt"/>
                <a:cs typeface="+mn-lt"/>
              </a:rPr>
              <a:t>Interactive Map (Folium)</a:t>
            </a:r>
            <a:r>
              <a:rPr lang="en-US" sz="1800" dirty="0">
                <a:ea typeface="+mn-lt"/>
                <a:cs typeface="+mn-lt"/>
              </a:rPr>
              <a:t>:</a:t>
            </a:r>
            <a:br>
              <a:rPr lang="en-US" sz="1800" dirty="0">
                <a:ea typeface="+mn-lt"/>
                <a:cs typeface="+mn-lt"/>
              </a:rPr>
            </a:br>
            <a:r>
              <a:rPr lang="en-US" sz="1800" dirty="0">
                <a:ea typeface="+mn-lt"/>
                <a:cs typeface="+mn-lt"/>
              </a:rPr>
              <a:t> Map displays the clusters geographically based on latitude and longitude. The map allows for easy identification of how the clusters are geographically distributed. It create or plot the points on the maps on the basis of mean average of latitude and longitude of all </a:t>
            </a:r>
            <a:r>
              <a:rPr lang="en-US" sz="1800" dirty="0" err="1">
                <a:ea typeface="+mn-lt"/>
                <a:cs typeface="+mn-lt"/>
              </a:rPr>
              <a:t>delaership</a:t>
            </a:r>
            <a:r>
              <a:rPr lang="en-US" sz="1800" dirty="0">
                <a:ea typeface="+mn-lt"/>
                <a:cs typeface="+mn-lt"/>
              </a:rPr>
              <a:t> belongs to a particular region.</a:t>
            </a:r>
            <a:endParaRPr lang="en-US" sz="1800" dirty="0"/>
          </a:p>
          <a:p>
            <a:endParaRPr lang="en-US" sz="1700" dirty="0"/>
          </a:p>
        </p:txBody>
      </p:sp>
      <p:pic>
        <p:nvPicPr>
          <p:cNvPr id="5" name="Picture 4" descr="A map with many colored dots&#10;&#10;AI-generated content may be incorrect.">
            <a:extLst>
              <a:ext uri="{FF2B5EF4-FFF2-40B4-BE49-F238E27FC236}">
                <a16:creationId xmlns:a16="http://schemas.microsoft.com/office/drawing/2014/main" id="{8F16847D-FC40-6401-6CF3-6854451E9B59}"/>
              </a:ext>
            </a:extLst>
          </p:cNvPr>
          <p:cNvPicPr>
            <a:picLocks noChangeAspect="1"/>
          </p:cNvPicPr>
          <p:nvPr/>
        </p:nvPicPr>
        <p:blipFill>
          <a:blip r:embed="rId2"/>
          <a:srcRect l="18221" r="17537"/>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Tree>
    <p:extLst>
      <p:ext uri="{BB962C8B-B14F-4D97-AF65-F5344CB8AC3E}">
        <p14:creationId xmlns:p14="http://schemas.microsoft.com/office/powerpoint/2010/main" val="1969477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B9B9DB-8F3A-525D-1AA4-CD99B4058447}"/>
              </a:ext>
            </a:extLst>
          </p:cNvPr>
          <p:cNvSpPr>
            <a:spLocks noGrp="1"/>
          </p:cNvSpPr>
          <p:nvPr>
            <p:ph type="title"/>
          </p:nvPr>
        </p:nvSpPr>
        <p:spPr>
          <a:xfrm>
            <a:off x="1043631" y="809898"/>
            <a:ext cx="9942716" cy="1554480"/>
          </a:xfrm>
        </p:spPr>
        <p:txBody>
          <a:bodyPr anchor="ctr">
            <a:normAutofit/>
          </a:bodyPr>
          <a:lstStyle/>
          <a:p>
            <a:r>
              <a:rPr lang="en-US" sz="4800" b="1" dirty="0"/>
              <a:t>Conclusion</a:t>
            </a:r>
            <a:br>
              <a:rPr lang="en-US" sz="4800" dirty="0"/>
            </a:br>
            <a:endParaRPr lang="en-CA" sz="4800" dirty="0"/>
          </a:p>
        </p:txBody>
      </p:sp>
      <p:sp>
        <p:nvSpPr>
          <p:cNvPr id="3" name="Content Placeholder 2">
            <a:extLst>
              <a:ext uri="{FF2B5EF4-FFF2-40B4-BE49-F238E27FC236}">
                <a16:creationId xmlns:a16="http://schemas.microsoft.com/office/drawing/2014/main" id="{6686C6CB-F4B8-0DE4-32EF-3F9AE075AC63}"/>
              </a:ext>
            </a:extLst>
          </p:cNvPr>
          <p:cNvSpPr>
            <a:spLocks noGrp="1"/>
          </p:cNvSpPr>
          <p:nvPr>
            <p:ph idx="1"/>
          </p:nvPr>
        </p:nvSpPr>
        <p:spPr>
          <a:xfrm>
            <a:off x="912962" y="1932417"/>
            <a:ext cx="10235407" cy="4925583"/>
          </a:xfrm>
        </p:spPr>
        <p:txBody>
          <a:bodyPr anchor="ctr">
            <a:normAutofit/>
          </a:bodyPr>
          <a:lstStyle/>
          <a:p>
            <a:r>
              <a:rPr lang="en-US" sz="2400" b="1" dirty="0"/>
              <a:t>Summary of Findings:</a:t>
            </a:r>
          </a:p>
          <a:p>
            <a:r>
              <a:rPr lang="en-US" sz="2400" dirty="0"/>
              <a:t>Identified top-performing sales regions in Edmonton is West and South area. By using K means </a:t>
            </a:r>
            <a:r>
              <a:rPr lang="en-CA" sz="2400" dirty="0"/>
              <a:t>clustering techniques.</a:t>
            </a:r>
            <a:endParaRPr lang="en-US" sz="2400" dirty="0"/>
          </a:p>
          <a:p>
            <a:r>
              <a:rPr lang="en-US" sz="2400" dirty="0"/>
              <a:t>Discovered underperforming clusters in North Edmonton.</a:t>
            </a:r>
          </a:p>
          <a:p>
            <a:r>
              <a:rPr lang="en-US" sz="2400" dirty="0"/>
              <a:t>PCA reduced the dataset's complexity, making clustering more efficient while retaining important variance.</a:t>
            </a:r>
            <a:endParaRPr lang="en-US" sz="3600" dirty="0"/>
          </a:p>
          <a:p>
            <a:r>
              <a:rPr lang="en-US" sz="2400" dirty="0"/>
              <a:t>These insights helpful  to optimize dealership placement and sales strategy. This </a:t>
            </a:r>
            <a:r>
              <a:rPr lang="en-US" sz="2600" dirty="0"/>
              <a:t>allowing for better targeting of high-potential regions and improvement in underperforming areas</a:t>
            </a:r>
            <a:r>
              <a:rPr lang="en-US" sz="1700" dirty="0"/>
              <a:t>.</a:t>
            </a:r>
            <a:endParaRPr lang="en-CA"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208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0AEC2C-76FE-B8F3-CDA6-1D4A61B35DDA}"/>
              </a:ext>
            </a:extLst>
          </p:cNvPr>
          <p:cNvSpPr>
            <a:spLocks noGrp="1"/>
          </p:cNvSpPr>
          <p:nvPr>
            <p:ph type="ctrTitle"/>
          </p:nvPr>
        </p:nvSpPr>
        <p:spPr>
          <a:xfrm>
            <a:off x="838200" y="253397"/>
            <a:ext cx="10515600" cy="1273233"/>
          </a:xfrm>
        </p:spPr>
        <p:txBody>
          <a:bodyPr vert="horz" lIns="91440" tIns="45720" rIns="91440" bIns="45720" rtlCol="0" anchor="ctr">
            <a:normAutofit/>
          </a:bodyPr>
          <a:lstStyle/>
          <a:p>
            <a:pPr algn="l"/>
            <a:r>
              <a:rPr lang="en-US" sz="4000" b="1" kern="1200" dirty="0">
                <a:solidFill>
                  <a:schemeClr val="tx1"/>
                </a:solidFill>
                <a:latin typeface="+mj-lt"/>
                <a:ea typeface="+mj-ea"/>
                <a:cs typeface="+mj-cs"/>
              </a:rPr>
              <a:t>Next Step</a:t>
            </a:r>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ubtitle 2">
            <a:extLst>
              <a:ext uri="{FF2B5EF4-FFF2-40B4-BE49-F238E27FC236}">
                <a16:creationId xmlns:a16="http://schemas.microsoft.com/office/drawing/2014/main" id="{F9631B19-5EE7-34F3-33C1-59888EF60855}"/>
              </a:ext>
            </a:extLst>
          </p:cNvPr>
          <p:cNvSpPr>
            <a:spLocks noGrp="1"/>
          </p:cNvSpPr>
          <p:nvPr>
            <p:ph type="subTitle" idx="1"/>
          </p:nvPr>
        </p:nvSpPr>
        <p:spPr>
          <a:xfrm>
            <a:off x="838200" y="2478024"/>
            <a:ext cx="10515600" cy="3694176"/>
          </a:xfrm>
        </p:spPr>
        <p:txBody>
          <a:bodyPr vert="horz" lIns="91440" tIns="45720" rIns="91440" bIns="45720" rtlCol="0" anchor="t">
            <a:normAutofit/>
          </a:bodyPr>
          <a:lstStyle/>
          <a:p>
            <a:pPr marL="342900" indent="-228600" algn="l">
              <a:buFont typeface="Arial" panose="020B0604020202020204" pitchFamily="34" charset="0"/>
              <a:buChar char="•"/>
            </a:pPr>
            <a:r>
              <a:rPr lang="en-US" dirty="0"/>
              <a:t>Develop a </a:t>
            </a:r>
            <a:r>
              <a:rPr lang="en-US" b="1" dirty="0"/>
              <a:t>Power BI Dashboard</a:t>
            </a:r>
            <a:r>
              <a:rPr lang="en-US" dirty="0"/>
              <a:t> for real-time sales insights.</a:t>
            </a:r>
          </a:p>
          <a:p>
            <a:pPr marL="342900" indent="-228600" algn="l">
              <a:buFont typeface="Arial" panose="020B0604020202020204" pitchFamily="34" charset="0"/>
              <a:buChar char="•"/>
            </a:pPr>
            <a:r>
              <a:rPr lang="en-US" dirty="0"/>
              <a:t>Test other clustering models like DBSCAN for comparison.</a:t>
            </a:r>
          </a:p>
          <a:p>
            <a:pPr marL="342900" indent="-228600" algn="l">
              <a:buFont typeface="Arial" panose="020B0604020202020204" pitchFamily="34" charset="0"/>
              <a:buChar char="•"/>
            </a:pPr>
            <a:r>
              <a:rPr lang="en-US" b="1" dirty="0"/>
              <a:t>Collect feedback from dealerships</a:t>
            </a:r>
            <a:r>
              <a:rPr lang="en-US" dirty="0"/>
              <a:t> to validate cluster insights and adjust strategies</a:t>
            </a:r>
          </a:p>
          <a:p>
            <a:pPr marL="342900" indent="-228600" algn="l">
              <a:buFont typeface="Arial" panose="020B0604020202020204" pitchFamily="34" charset="0"/>
              <a:buChar char="•"/>
            </a:pPr>
            <a:r>
              <a:rPr lang="en-US" dirty="0"/>
              <a:t>Create an application that helps to integrate the model with input to produce optimal output and excellent performance</a:t>
            </a:r>
          </a:p>
        </p:txBody>
      </p:sp>
    </p:spTree>
    <p:extLst>
      <p:ext uri="{BB962C8B-B14F-4D97-AF65-F5344CB8AC3E}">
        <p14:creationId xmlns:p14="http://schemas.microsoft.com/office/powerpoint/2010/main" val="1574356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DF282CF2-F59C-7059-3B07-D1C74E851D5C}"/>
              </a:ext>
            </a:extLst>
          </p:cNvPr>
          <p:cNvSpPr>
            <a:spLocks noGrp="1"/>
          </p:cNvSpPr>
          <p:nvPr>
            <p:ph type="subTitle" idx="1"/>
          </p:nvPr>
        </p:nvSpPr>
        <p:spPr>
          <a:xfrm>
            <a:off x="1931874" y="2356580"/>
            <a:ext cx="6051236" cy="3682436"/>
          </a:xfrm>
        </p:spPr>
        <p:txBody>
          <a:bodyPr vert="horz" lIns="91440" tIns="45720" rIns="91440" bIns="45720" rtlCol="0" anchor="t">
            <a:normAutofit/>
          </a:bodyPr>
          <a:lstStyle/>
          <a:p>
            <a:pPr algn="r"/>
            <a:r>
              <a:rPr lang="en-US" sz="4400" b="1">
                <a:solidFill>
                  <a:srgbClr val="FFFFFF"/>
                </a:solidFill>
              </a:rPr>
              <a:t>Thank you </a:t>
            </a:r>
            <a:endParaRPr lang="en-CA" sz="4400" b="1">
              <a:solidFill>
                <a:srgbClr val="FFFFFF"/>
              </a:solidFill>
            </a:endParaRP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7467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295</TotalTime>
  <Words>790</Words>
  <Application>Microsoft Office PowerPoint</Application>
  <PresentationFormat>Widescreen</PresentationFormat>
  <Paragraphs>57</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Aptos</vt:lpstr>
      <vt:lpstr>Aptos Display</vt:lpstr>
      <vt:lpstr>Arial</vt:lpstr>
      <vt:lpstr>Avenir Next LT Pro</vt:lpstr>
      <vt:lpstr>Calibri</vt:lpstr>
      <vt:lpstr>Consolas</vt:lpstr>
      <vt:lpstr>Helvetica Neue Medium</vt:lpstr>
      <vt:lpstr>Sitka Subheading</vt:lpstr>
      <vt:lpstr>Office Theme</vt:lpstr>
      <vt:lpstr>Best-selling Regions in Edmonton (clustering) – Go Auto) </vt:lpstr>
      <vt:lpstr>GROUP NAME &amp; MEMBERS</vt:lpstr>
      <vt:lpstr>Problem Statement</vt:lpstr>
      <vt:lpstr>Development and Implementation of the ML Model</vt:lpstr>
      <vt:lpstr>Principal Component Analysis (PCA)</vt:lpstr>
      <vt:lpstr>Optimal Cluster Selection</vt:lpstr>
      <vt:lpstr>K Means clusterring</vt:lpstr>
      <vt:lpstr>Map</vt:lpstr>
      <vt:lpstr>Cluster Visualization</vt:lpstr>
      <vt:lpstr>Conclusion </vt:lpstr>
      <vt:lpstr>Next Step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Gurwinder Kaur</dc:creator>
  <cp:lastModifiedBy>Gurwinder Kaur</cp:lastModifiedBy>
  <cp:revision>5</cp:revision>
  <dcterms:created xsi:type="dcterms:W3CDTF">2025-03-12T14:25:35Z</dcterms:created>
  <dcterms:modified xsi:type="dcterms:W3CDTF">2025-03-12T21:06:01Z</dcterms:modified>
</cp:coreProperties>
</file>